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userDrawn="1">
          <p15:clr>
            <a:srgbClr val="A4A3A4"/>
          </p15:clr>
        </p15:guide>
        <p15:guide id="2" orient="horz" pos="288" userDrawn="1">
          <p15:clr>
            <a:srgbClr val="A4A3A4"/>
          </p15:clr>
        </p15:guide>
        <p15:guide id="3" orient="horz" pos="20160" userDrawn="1">
          <p15:clr>
            <a:srgbClr val="A4A3A4"/>
          </p15:clr>
        </p15:guide>
        <p15:guide id="4" orient="horz" pos="0" userDrawn="1">
          <p15:clr>
            <a:srgbClr val="A4A3A4"/>
          </p15:clr>
        </p15:guide>
        <p15:guide id="5" pos="268" userDrawn="1">
          <p15:clr>
            <a:srgbClr val="A4A3A4"/>
          </p15:clr>
        </p15:guide>
        <p15:guide id="6" pos="273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3F5FA"/>
    <a:srgbClr val="CDD2DE"/>
    <a:srgbClr val="E3E9E5"/>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13" autoAdjust="0"/>
  </p:normalViewPr>
  <p:slideViewPr>
    <p:cSldViewPr snapToGrid="0" snapToObjects="1" showGuides="1">
      <p:cViewPr varScale="1">
        <p:scale>
          <a:sx n="34" d="100"/>
          <a:sy n="34" d="100"/>
        </p:scale>
        <p:origin x="1376" y="280"/>
      </p:cViewPr>
      <p:guideLst>
        <p:guide orient="horz" pos="3318"/>
        <p:guide orient="horz" pos="288"/>
        <p:guide orient="horz" pos="20160"/>
        <p:guide orient="horz"/>
        <p:guide pos="268"/>
        <p:guide pos="27378"/>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72"/>
        <p:guide pos="2161"/>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0" Type="http://schemas.openxmlformats.org/officeDocument/2006/relationships/commentAuthors" Target="commentAuthor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045" algn="l" defTabSz="4389120" rtl="0" eaLnBrk="1" latinLnBrk="0" hangingPunct="1">
      <a:defRPr sz="5800" kern="1200">
        <a:solidFill>
          <a:schemeClr val="tx1"/>
        </a:solidFill>
        <a:latin typeface="+mn-lt"/>
        <a:ea typeface="+mn-ea"/>
        <a:cs typeface="+mn-cs"/>
      </a:defRPr>
    </a:lvl4pPr>
    <a:lvl5pPr marL="8777605" algn="l" defTabSz="4389120" rtl="0" eaLnBrk="1" latinLnBrk="0" hangingPunct="1">
      <a:defRPr sz="5800" kern="1200">
        <a:solidFill>
          <a:schemeClr val="tx1"/>
        </a:solidFill>
        <a:latin typeface="+mn-lt"/>
        <a:ea typeface="+mn-ea"/>
        <a:cs typeface="+mn-cs"/>
      </a:defRPr>
    </a:lvl5pPr>
    <a:lvl6pPr marL="10972165" algn="l" defTabSz="4389120" rtl="0" eaLnBrk="1" latinLnBrk="0" hangingPunct="1">
      <a:defRPr sz="5800" kern="1200">
        <a:solidFill>
          <a:schemeClr val="tx1"/>
        </a:solidFill>
        <a:latin typeface="+mn-lt"/>
        <a:ea typeface="+mn-ea"/>
        <a:cs typeface="+mn-cs"/>
      </a:defRPr>
    </a:lvl6pPr>
    <a:lvl7pPr marL="13166725" algn="l" defTabSz="4389120" rtl="0" eaLnBrk="1" latinLnBrk="0" hangingPunct="1">
      <a:defRPr sz="5800" kern="1200">
        <a:solidFill>
          <a:schemeClr val="tx1"/>
        </a:solidFill>
        <a:latin typeface="+mn-lt"/>
        <a:ea typeface="+mn-ea"/>
        <a:cs typeface="+mn-cs"/>
      </a:defRPr>
    </a:lvl7pPr>
    <a:lvl8pPr marL="15361285" algn="l" defTabSz="4389120" rtl="0" eaLnBrk="1" latinLnBrk="0" hangingPunct="1">
      <a:defRPr sz="5800" kern="1200">
        <a:solidFill>
          <a:schemeClr val="tx1"/>
        </a:solidFill>
        <a:latin typeface="+mn-lt"/>
        <a:ea typeface="+mn-ea"/>
        <a:cs typeface="+mn-cs"/>
      </a:defRPr>
    </a:lvl8pPr>
    <a:lvl9pPr marL="17555845"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anose="05000000000000000000" pitchFamily="2" charset="2"/>
              <a:buNone/>
              <a:defRPr sz="3700" b="1" u="sng" baseline="0">
                <a:solidFill>
                  <a:schemeClr val="accent1"/>
                </a:solidFill>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5932593" y="3127915"/>
            <a:ext cx="31998968" cy="1280160"/>
          </a:xfrm>
          <a:prstGeom prst="rect">
            <a:avLst/>
          </a:prstGeom>
        </p:spPr>
        <p:txBody>
          <a:bodyPr>
            <a:normAutofit/>
          </a:bodyPr>
          <a:lstStyle>
            <a:lvl1pPr marL="0" indent="0" algn="ctr">
              <a:buFontTx/>
              <a:buNone/>
              <a:defRPr sz="54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5932593" y="1847755"/>
            <a:ext cx="31998968" cy="1280160"/>
          </a:xfrm>
          <a:prstGeom prst="rect">
            <a:avLst/>
          </a:prstGeom>
        </p:spPr>
        <p:txBody>
          <a:bodyPr anchor="t" anchorCtr="1">
            <a:normAutofit/>
          </a:bodyPr>
          <a:lstStyle>
            <a:lvl1pPr marL="0" indent="0" algn="ctr">
              <a:buFontTx/>
              <a:buNone/>
              <a:defRPr sz="8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5932593" y="209781"/>
            <a:ext cx="31998968" cy="1637973"/>
          </a:xfrm>
          <a:prstGeom prst="rect">
            <a:avLst/>
          </a:prstGeom>
        </p:spPr>
        <p:txBody>
          <a:bodyPr anchor="t" anchorCtr="1">
            <a:normAutofit/>
          </a:bodyPr>
          <a:lstStyle>
            <a:lvl1pPr marL="0" indent="0" algn="ctr">
              <a:buFontTx/>
              <a:buNone/>
              <a:defRPr sz="9600" b="1">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hyperlink" Target="https://www.posterpresentations.com/how-to-change-the-research-poster-template-colors.html" TargetMode="Externa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1" Type="http://schemas.openxmlformats.org/officeDocument/2006/relationships/theme" Target="../theme/theme1.xml"/><Relationship Id="rId10" Type="http://schemas.openxmlformats.org/officeDocument/2006/relationships/image" Target="../media/image8.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Rectangle 33"/>
          <p:cNvSpPr/>
          <p:nvPr userDrawn="1"/>
        </p:nvSpPr>
        <p:spPr>
          <a:xfrm rot="10800000">
            <a:off x="0" y="31365486"/>
            <a:ext cx="43891200" cy="1549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0" y="1"/>
            <a:ext cx="43891200" cy="449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userDrawn="1"/>
        </p:nvGraphicFramePr>
        <p:xfrm>
          <a:off x="-10611120" y="14098"/>
          <a:ext cx="9776869" cy="32679220"/>
        </p:xfrm>
        <a:graphic>
          <a:graphicData uri="http://schemas.openxmlformats.org/drawingml/2006/table">
            <a:tbl>
              <a:tblPr firstRow="1" bandRow="1">
                <a:tableStyleId>{5C22544A-7EE6-4342-B048-85BDC9FD1C3A}</a:tableStyleId>
              </a:tblPr>
              <a:tblGrid>
                <a:gridCol w="4192245"/>
                <a:gridCol w="5584624"/>
              </a:tblGrid>
              <a:tr h="132911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anose="020B0603020202020204" pitchFamily="34" charset="0"/>
                        </a:rPr>
                        <a:t>(THIS SIDEBAR WILL NOT PRINT)</a:t>
                      </a:r>
                      <a:endParaRPr lang="en-US" sz="3600" b="1" spc="600" dirty="0">
                        <a:solidFill>
                          <a:schemeClr val="bg1"/>
                        </a:solidFill>
                        <a:latin typeface="Trebuchet MS" panose="020B0603020202020204" pitchFamily="34" charset="0"/>
                      </a:endParaRPr>
                    </a:p>
                  </a:txBody>
                  <a:tcPr marL="182880" marT="137160">
                    <a:solidFill>
                      <a:srgbClr val="FFC000"/>
                    </a:solidFill>
                  </a:tcPr>
                </a:tc>
                <a:tc hMerge="1">
                  <a:tcPr/>
                </a:tc>
              </a:tr>
              <a:tr h="4206624">
                <a:tc gridSpan="2">
                  <a:txBody>
                    <a:bodyPr/>
                    <a:lstStyle/>
                    <a:p>
                      <a:pPr defTabSz="3765550"/>
                      <a:r>
                        <a:rPr lang="en-US" sz="2000" i="0" dirty="0">
                          <a:solidFill>
                            <a:srgbClr val="D9D9D9"/>
                          </a:solidFill>
                          <a:latin typeface="Arial" panose="020B0604020202090204"/>
                          <a:cs typeface="Arial" panose="020B0604020202090204"/>
                        </a:rPr>
                        <a:t>This PowerPoint template produces a </a:t>
                      </a:r>
                      <a:r>
                        <a:rPr lang="en-US" sz="2000" i="0" dirty="0">
                          <a:solidFill>
                            <a:srgbClr val="FFC000"/>
                          </a:solidFill>
                          <a:latin typeface="Arial" panose="020B0604020202090204"/>
                          <a:cs typeface="Arial" panose="020B0604020202090204"/>
                        </a:rPr>
                        <a:t>36"x48" </a:t>
                      </a:r>
                      <a:r>
                        <a:rPr lang="en-US" sz="2000" i="0" dirty="0">
                          <a:solidFill>
                            <a:srgbClr val="D9D9D9"/>
                          </a:solidFill>
                          <a:latin typeface="Arial" panose="020B0604020202090204"/>
                          <a:cs typeface="Arial" panose="020B0604020202090204"/>
                        </a:rPr>
                        <a:t>presentation poster. You can use it to create your research poster by placing your title, subtitle, text, tables, charts and photos. </a:t>
                      </a:r>
                      <a:endParaRPr lang="en-US" sz="2000" i="0" dirty="0">
                        <a:solidFill>
                          <a:srgbClr val="D9D9D9"/>
                        </a:solidFill>
                        <a:latin typeface="Arial" panose="020B0604020202090204"/>
                        <a:cs typeface="Arial" panose="020B0604020202090204"/>
                      </a:endParaRPr>
                    </a:p>
                    <a:p>
                      <a:pPr defTabSz="3765550"/>
                      <a:endParaRPr lang="en-US" sz="2000" i="0" dirty="0">
                        <a:solidFill>
                          <a:srgbClr val="D9D9D9"/>
                        </a:solidFill>
                        <a:latin typeface="Arial" panose="020B0604020202090204"/>
                        <a:cs typeface="Arial" panose="020B0604020202090204"/>
                      </a:endParaRPr>
                    </a:p>
                    <a:p>
                      <a:pPr defTabSz="3765550"/>
                      <a:r>
                        <a:rPr lang="en-US" sz="2000" i="0" dirty="0">
                          <a:solidFill>
                            <a:srgbClr val="D9D9D9"/>
                          </a:solidFill>
                          <a:latin typeface="Arial" panose="020B0604020202090204"/>
                          <a:cs typeface="Arial" panose="020B0604020202090204"/>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panose="020B0604020202090204"/>
                          <a:cs typeface="Arial" panose="020B0604020202090204"/>
                        </a:rPr>
                        <a:t>PosterPresentations.com</a:t>
                      </a:r>
                      <a:r>
                        <a:rPr lang="en-US" sz="2000" i="0" dirty="0">
                          <a:solidFill>
                            <a:srgbClr val="D9D9D9"/>
                          </a:solidFill>
                          <a:latin typeface="Arial" panose="020B0604020202090204"/>
                          <a:cs typeface="Arial" panose="020B0604020202090204"/>
                        </a:rPr>
                        <a:t> and click on the  </a:t>
                      </a:r>
                      <a:r>
                        <a:rPr lang="en-US" sz="2000" i="0" dirty="0">
                          <a:solidFill>
                            <a:srgbClr val="FFC000"/>
                          </a:solidFill>
                          <a:latin typeface="Arial" panose="020B0604020202090204"/>
                          <a:cs typeface="Arial" panose="020B0604020202090204"/>
                        </a:rPr>
                        <a:t>HELP DESK</a:t>
                      </a:r>
                      <a:r>
                        <a:rPr lang="en-US" sz="2000" i="0" baseline="0" dirty="0">
                          <a:solidFill>
                            <a:srgbClr val="D9D9D9"/>
                          </a:solidFill>
                          <a:latin typeface="Arial" panose="020B0604020202090204"/>
                          <a:cs typeface="Arial" panose="020B0604020202090204"/>
                        </a:rPr>
                        <a:t> </a:t>
                      </a:r>
                      <a:r>
                        <a:rPr lang="en-US" sz="2000" i="0" dirty="0">
                          <a:solidFill>
                            <a:srgbClr val="D9D9D9"/>
                          </a:solidFill>
                          <a:latin typeface="Arial" panose="020B0604020202090204"/>
                          <a:cs typeface="Arial" panose="020B0604020202090204"/>
                        </a:rPr>
                        <a:t>tab.</a:t>
                      </a:r>
                      <a:endParaRPr lang="en-US" sz="2000" i="0" dirty="0">
                        <a:solidFill>
                          <a:srgbClr val="D9D9D9"/>
                        </a:solidFill>
                        <a:latin typeface="Arial" panose="020B0604020202090204"/>
                        <a:cs typeface="Arial" panose="020B0604020202090204"/>
                      </a:endParaRPr>
                    </a:p>
                    <a:p>
                      <a:pPr defTabSz="3765550"/>
                      <a:endParaRPr lang="en-US" sz="2000" i="0" dirty="0">
                        <a:solidFill>
                          <a:srgbClr val="D9D9D9"/>
                        </a:solidFill>
                        <a:latin typeface="Arial" panose="020B0604020202090204"/>
                        <a:cs typeface="Arial" panose="020B0604020202090204"/>
                      </a:endParaRPr>
                    </a:p>
                    <a:p>
                      <a:pPr defTabSz="3765550"/>
                      <a:r>
                        <a:rPr lang="en-US" sz="2000" i="0" dirty="0">
                          <a:solidFill>
                            <a:srgbClr val="D9D9D9"/>
                          </a:solidFill>
                          <a:latin typeface="Arial" panose="020B0604020202090204"/>
                          <a:cs typeface="Arial" panose="020B0604020202090204"/>
                        </a:rPr>
                        <a:t>To print your poster using our same-day professional printing service, go online to </a:t>
                      </a:r>
                      <a:r>
                        <a:rPr lang="en-US" sz="2000" i="0" dirty="0" err="1">
                          <a:solidFill>
                            <a:srgbClr val="FFC000"/>
                          </a:solidFill>
                          <a:latin typeface="Arial" panose="020B0604020202090204"/>
                          <a:cs typeface="Arial" panose="020B0604020202090204"/>
                        </a:rPr>
                        <a:t>PosterPresentations.com</a:t>
                      </a:r>
                      <a:r>
                        <a:rPr lang="en-US" sz="2000" i="0" dirty="0">
                          <a:solidFill>
                            <a:srgbClr val="D9D9D9"/>
                          </a:solidFill>
                          <a:latin typeface="Arial" panose="020B0604020202090204"/>
                          <a:cs typeface="Arial" panose="020B0604020202090204"/>
                        </a:rPr>
                        <a:t> and click on "</a:t>
                      </a:r>
                      <a:r>
                        <a:rPr lang="en-US" sz="2000" i="0" dirty="0">
                          <a:solidFill>
                            <a:srgbClr val="FFC000"/>
                          </a:solidFill>
                          <a:latin typeface="Arial" panose="020B0604020202090204"/>
                          <a:cs typeface="Arial" panose="020B0604020202090204"/>
                        </a:rPr>
                        <a:t>Order your poster</a:t>
                      </a:r>
                      <a:r>
                        <a:rPr lang="en-US" sz="2000" i="0" dirty="0">
                          <a:solidFill>
                            <a:srgbClr val="D9D9D9"/>
                          </a:solidFill>
                          <a:latin typeface="Arial" panose="020B0604020202090204"/>
                          <a:cs typeface="Arial" panose="020B0604020202090204"/>
                        </a:rPr>
                        <a:t>".</a:t>
                      </a:r>
                      <a:endParaRPr lang="en-US" sz="2000" b="1" dirty="0">
                        <a:solidFill>
                          <a:srgbClr val="D9D9D9"/>
                        </a:solidFill>
                        <a:latin typeface="Arial" panose="020B0604020202090204"/>
                        <a:cs typeface="Arial" panose="020B0604020202090204"/>
                      </a:endParaRPr>
                    </a:p>
                  </a:txBody>
                  <a:tcPr marL="182880" marT="137160">
                    <a:solidFill>
                      <a:srgbClr val="010101"/>
                    </a:solidFill>
                  </a:tcPr>
                </a:tc>
                <a:tc hMerge="1">
                  <a:tcPr>
                    <a:solidFill>
                      <a:schemeClr val="tx1">
                        <a:lumMod val="95000"/>
                        <a:lumOff val="5000"/>
                      </a:schemeClr>
                    </a:solidFill>
                  </a:tcPr>
                </a:tc>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90204" pitchFamily="34" charset="0"/>
                          <a:cs typeface="Arial" panose="020B0604020202090204" pitchFamily="34" charset="0"/>
                        </a:rPr>
                        <a:t>This is a template for a </a:t>
                      </a:r>
                      <a:endParaRPr lang="en-US" sz="2000" dirty="0">
                        <a:solidFill>
                          <a:schemeClr val="bg1"/>
                        </a:solidFill>
                        <a:latin typeface="Arial" panose="020B0604020202090204" pitchFamily="34" charset="0"/>
                        <a:cs typeface="Arial" panose="020B0604020202090204" pitchFamily="34" charset="0"/>
                      </a:endParaRPr>
                    </a:p>
                    <a:p>
                      <a:pPr algn="ctr"/>
                      <a:r>
                        <a:rPr lang="en-US" sz="2000" dirty="0">
                          <a:solidFill>
                            <a:schemeClr val="bg1"/>
                          </a:solidFill>
                          <a:latin typeface="Arial" panose="020B0604020202090204" pitchFamily="34" charset="0"/>
                          <a:cs typeface="Arial" panose="020B0604020202090204" pitchFamily="34" charset="0"/>
                        </a:rPr>
                        <a:t>presentation poster</a:t>
                      </a:r>
                      <a:br>
                        <a:rPr lang="en-US" sz="2000" dirty="0">
                          <a:solidFill>
                            <a:schemeClr val="bg1"/>
                          </a:solidFill>
                          <a:latin typeface="Arial" panose="020B0604020202090204" pitchFamily="34" charset="0"/>
                          <a:cs typeface="Arial" panose="020B0604020202090204" pitchFamily="34" charset="0"/>
                        </a:rPr>
                      </a:br>
                      <a:r>
                        <a:rPr lang="en-US" sz="3600" b="1" dirty="0">
                          <a:solidFill>
                            <a:srgbClr val="FFC000"/>
                          </a:solidFill>
                          <a:latin typeface="Arial" panose="020B0604020202090204" pitchFamily="34" charset="0"/>
                          <a:cs typeface="Arial" panose="020B0604020202090204" pitchFamily="34" charset="0"/>
                        </a:rPr>
                        <a:t>36 inches tall</a:t>
                      </a:r>
                      <a:br>
                        <a:rPr lang="en-US" sz="3600" b="1" dirty="0">
                          <a:solidFill>
                            <a:srgbClr val="FFC000"/>
                          </a:solidFill>
                          <a:latin typeface="Arial" panose="020B0604020202090204" pitchFamily="34" charset="0"/>
                          <a:cs typeface="Arial" panose="020B0604020202090204" pitchFamily="34" charset="0"/>
                        </a:rPr>
                      </a:br>
                      <a:r>
                        <a:rPr lang="en-US" sz="3600" b="1" dirty="0">
                          <a:solidFill>
                            <a:srgbClr val="FFC000"/>
                          </a:solidFill>
                          <a:latin typeface="Arial" panose="020B0604020202090204" pitchFamily="34" charset="0"/>
                          <a:cs typeface="Arial" panose="020B0604020202090204" pitchFamily="34" charset="0"/>
                        </a:rPr>
                        <a:t>by</a:t>
                      </a:r>
                      <a:br>
                        <a:rPr lang="en-US" sz="3600" b="1" dirty="0">
                          <a:solidFill>
                            <a:srgbClr val="FFC000"/>
                          </a:solidFill>
                          <a:latin typeface="Arial" panose="020B0604020202090204" pitchFamily="34" charset="0"/>
                          <a:cs typeface="Arial" panose="020B0604020202090204" pitchFamily="34" charset="0"/>
                        </a:rPr>
                      </a:br>
                      <a:r>
                        <a:rPr lang="en-US" sz="3600" b="1" dirty="0">
                          <a:solidFill>
                            <a:srgbClr val="FFC000"/>
                          </a:solidFill>
                          <a:latin typeface="Arial" panose="020B0604020202090204" pitchFamily="34" charset="0"/>
                          <a:cs typeface="Arial" panose="020B0604020202090204" pitchFamily="34" charset="0"/>
                        </a:rPr>
                        <a:t>48 inches wide</a:t>
                      </a:r>
                      <a:br>
                        <a:rPr lang="en-US" sz="2000" dirty="0">
                          <a:solidFill>
                            <a:schemeClr val="bg1"/>
                          </a:solidFill>
                          <a:latin typeface="Arial" panose="020B0604020202090204" pitchFamily="34" charset="0"/>
                          <a:cs typeface="Arial" panose="020B0604020202090204" pitchFamily="34" charset="0"/>
                        </a:rPr>
                      </a:br>
                      <a:endParaRPr lang="en-US" sz="2000" dirty="0">
                        <a:solidFill>
                          <a:srgbClr val="1F3A4E"/>
                        </a:solidFill>
                      </a:endParaRPr>
                    </a:p>
                  </a:txBody>
                  <a:tcPr>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604020202090204" pitchFamily="34" charset="0"/>
                          <a:cs typeface="Arial" panose="020B0604020202090204" pitchFamily="34" charset="0"/>
                        </a:rPr>
                        <a:t>Important: Check the template size</a:t>
                      </a:r>
                      <a:br>
                        <a:rPr lang="en-US" sz="2000" b="0" baseline="0" dirty="0">
                          <a:solidFill>
                            <a:srgbClr val="FFC000"/>
                          </a:solidFill>
                          <a:latin typeface="Arial" panose="020B0604020202090204" pitchFamily="34" charset="0"/>
                          <a:cs typeface="Arial" panose="020B0604020202090204" pitchFamily="34" charset="0"/>
                        </a:rPr>
                      </a:br>
                      <a:r>
                        <a:rPr lang="en-US" sz="2000" b="0" baseline="0" dirty="0">
                          <a:solidFill>
                            <a:srgbClr val="D9D9D9"/>
                          </a:solidFill>
                          <a:latin typeface="Arial" panose="020B0604020202090204" pitchFamily="34" charset="0"/>
                          <a:cs typeface="Arial" panose="020B060402020209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90204" pitchFamily="34" charset="0"/>
                          <a:cs typeface="Arial" panose="020B0604020202090204" pitchFamily="34" charset="0"/>
                        </a:rPr>
                      </a:br>
                      <a:r>
                        <a:rPr lang="en-US" sz="2000" b="0" baseline="0" dirty="0">
                          <a:solidFill>
                            <a:srgbClr val="D9D9D9"/>
                          </a:solidFill>
                          <a:latin typeface="Arial" panose="020B0604020202090204" pitchFamily="34" charset="0"/>
                          <a:cs typeface="Arial" panose="020B060402020209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30 tall x 40 wide</a:t>
                      </a:r>
                      <a:br>
                        <a:rPr lang="en-US" sz="2000" b="0" baseline="0" dirty="0">
                          <a:solidFill>
                            <a:srgbClr val="FFC000"/>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42 tall x 56 wide</a:t>
                      </a:r>
                      <a:br>
                        <a:rPr lang="en-US" sz="2000" b="0" baseline="0" dirty="0">
                          <a:solidFill>
                            <a:srgbClr val="FFC000"/>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48 tall x 64 wide</a:t>
                      </a:r>
                      <a:endParaRPr lang="en-US" sz="2000" b="0" baseline="0" dirty="0">
                        <a:solidFill>
                          <a:srgbClr val="FFC000"/>
                        </a:solidFill>
                        <a:latin typeface="Arial" panose="020B0604020202090204" pitchFamily="34" charset="0"/>
                        <a:cs typeface="Arial" panose="020B0604020202090204" pitchFamily="34" charset="0"/>
                      </a:endParaRPr>
                    </a:p>
                  </a:txBody>
                  <a:tcPr marL="182880" marT="137160">
                    <a:solidFill>
                      <a:srgbClr val="010101"/>
                    </a:solidFill>
                  </a:tcPr>
                </a:tc>
              </a:tr>
              <a:tr h="4288692">
                <a:tc>
                  <a:txBody>
                    <a:bodyPr/>
                    <a:lstStyle/>
                    <a:p>
                      <a:endParaRPr lang="en-US" sz="2000" dirty="0">
                        <a:solidFill>
                          <a:srgbClr val="1F3A4E"/>
                        </a:solidFill>
                      </a:endParaRPr>
                    </a:p>
                  </a:txBody>
                  <a:tcPr>
                    <a:blipFill rotWithShape="1">
                      <a:blip r:embed="rId2"/>
                      <a:stretch>
                        <a:fillRect/>
                      </a:stretch>
                    </a:blipFill>
                  </a:tcPr>
                </a:tc>
                <a:tc>
                  <a:txBody>
                    <a:bodyPr/>
                    <a:lstStyle/>
                    <a:p>
                      <a:pPr algn="l"/>
                      <a:r>
                        <a:rPr lang="en-US" sz="2400" b="1" baseline="0" dirty="0">
                          <a:solidFill>
                            <a:srgbClr val="FFC000"/>
                          </a:solidFill>
                          <a:latin typeface="Arial" panose="020B0604020202090204" pitchFamily="34" charset="0"/>
                          <a:cs typeface="Arial" panose="020B0604020202090204" pitchFamily="34" charset="0"/>
                        </a:rPr>
                        <a:t>How to </a:t>
                      </a:r>
                      <a:r>
                        <a:rPr lang="en-US" sz="4000" b="1" baseline="0" dirty="0">
                          <a:solidFill>
                            <a:srgbClr val="FFC000"/>
                          </a:solidFill>
                          <a:latin typeface="Arial" panose="020B0604020202090204" pitchFamily="34" charset="0"/>
                          <a:cs typeface="Arial" panose="020B0604020202090204" pitchFamily="34" charset="0"/>
                        </a:rPr>
                        <a:t>Zoom in </a:t>
                      </a:r>
                      <a:r>
                        <a:rPr lang="en-US" sz="2400" b="1" baseline="0" dirty="0">
                          <a:solidFill>
                            <a:srgbClr val="FFC000"/>
                          </a:solidFill>
                          <a:latin typeface="Arial" panose="020B0604020202090204" pitchFamily="34" charset="0"/>
                          <a:cs typeface="Arial" panose="020B0604020202090204" pitchFamily="34" charset="0"/>
                        </a:rPr>
                        <a:t>and </a:t>
                      </a:r>
                      <a:r>
                        <a:rPr lang="en-US" sz="1800" b="1" baseline="0" dirty="0">
                          <a:solidFill>
                            <a:srgbClr val="FFC000"/>
                          </a:solidFill>
                          <a:latin typeface="Arial" panose="020B0604020202090204" pitchFamily="34" charset="0"/>
                          <a:cs typeface="Arial" panose="020B0604020202090204" pitchFamily="34" charset="0"/>
                        </a:rPr>
                        <a:t>out</a:t>
                      </a:r>
                      <a:endParaRPr lang="en-US" sz="2400" b="1" baseline="0" dirty="0">
                        <a:solidFill>
                          <a:srgbClr val="FFC000"/>
                        </a:solidFill>
                        <a:latin typeface="Arial" panose="020B0604020202090204" pitchFamily="34" charset="0"/>
                        <a:cs typeface="Arial" panose="020B0604020202090204" pitchFamily="34" charset="0"/>
                      </a:endParaRPr>
                    </a:p>
                    <a:p>
                      <a:pPr algn="l"/>
                      <a:r>
                        <a:rPr lang="en-US" sz="2000" b="0" baseline="0" dirty="0">
                          <a:solidFill>
                            <a:srgbClr val="D9D9D9"/>
                          </a:solidFill>
                          <a:latin typeface="Arial" panose="020B0604020202090204" pitchFamily="34" charset="0"/>
                          <a:cs typeface="Arial" panose="020B060402020209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1. </a:t>
                      </a:r>
                      <a:r>
                        <a:rPr lang="en-US" sz="2000" b="0" baseline="0" dirty="0">
                          <a:solidFill>
                            <a:srgbClr val="D9D9D9"/>
                          </a:solidFill>
                          <a:latin typeface="Arial" panose="020B0604020202090204" pitchFamily="34" charset="0"/>
                          <a:cs typeface="Arial" panose="020B060402020209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2. </a:t>
                      </a:r>
                      <a:r>
                        <a:rPr lang="en-US" sz="2000" b="0" baseline="0" dirty="0">
                          <a:solidFill>
                            <a:srgbClr val="D9D9D9"/>
                          </a:solidFill>
                          <a:latin typeface="Arial" panose="020B0604020202090204" pitchFamily="34" charset="0"/>
                          <a:cs typeface="Arial" panose="020B0604020202090204" pitchFamily="34" charset="0"/>
                        </a:rPr>
                        <a:t>For better zoom flexibility, use the zoom slider at the bottom right of the window.</a:t>
                      </a:r>
                      <a:endParaRPr lang="en-US" sz="2000" b="0" baseline="0" dirty="0">
                        <a:solidFill>
                          <a:srgbClr val="D9D9D9"/>
                        </a:solidFill>
                        <a:latin typeface="Arial" panose="020B0604020202090204" pitchFamily="34" charset="0"/>
                        <a:cs typeface="Arial" panose="020B0604020202090204" pitchFamily="34" charset="0"/>
                      </a:endParaRPr>
                    </a:p>
                  </a:txBody>
                  <a:tcPr marL="182880" marT="137160">
                    <a:solidFill>
                      <a:srgbClr val="010101"/>
                    </a:solidFill>
                  </a:tcPr>
                </a:tc>
              </a:tr>
              <a:tr h="180052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604020202090204" pitchFamily="34" charset="0"/>
                          <a:cs typeface="Arial" panose="020B0604020202090204" pitchFamily="34" charset="0"/>
                        </a:rPr>
                        <a:t>Ruler and Guides</a:t>
                      </a:r>
                      <a:br>
                        <a:rPr lang="en-US" sz="2000" b="0" baseline="0" dirty="0">
                          <a:solidFill>
                            <a:srgbClr val="FFC000"/>
                          </a:solidFill>
                          <a:latin typeface="Arial" panose="020B0604020202090204" pitchFamily="34" charset="0"/>
                          <a:cs typeface="Arial" panose="020B0604020202090204" pitchFamily="34" charset="0"/>
                        </a:rPr>
                      </a:br>
                      <a:r>
                        <a:rPr lang="en-US" sz="2000" b="0" baseline="0" dirty="0">
                          <a:solidFill>
                            <a:srgbClr val="D9D9D9"/>
                          </a:solidFill>
                          <a:latin typeface="Arial" panose="020B0604020202090204" pitchFamily="34" charset="0"/>
                          <a:cs typeface="Arial" panose="020B060402020209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lang="en-US" sz="2000" b="0" baseline="0" dirty="0">
                        <a:solidFill>
                          <a:srgbClr val="D9D9D9"/>
                        </a:solidFill>
                        <a:latin typeface="Arial" panose="020B0604020202090204" pitchFamily="34" charset="0"/>
                        <a:cs typeface="Arial" panose="020B0604020202090204" pitchFamily="34" charset="0"/>
                      </a:endParaRPr>
                    </a:p>
                  </a:txBody>
                  <a:tcPr>
                    <a:solidFill>
                      <a:srgbClr val="010101"/>
                    </a:solidFill>
                  </a:tcPr>
                </a:tc>
                <a:tc hMerge="1">
                  <a:tcPr marL="182880" marT="137160">
                    <a:solidFill>
                      <a:schemeClr val="tx1">
                        <a:lumMod val="95000"/>
                        <a:lumOff val="5000"/>
                      </a:schemeClr>
                    </a:solidFill>
                  </a:tcPr>
                </a:tc>
              </a:tr>
              <a:tr h="3824339">
                <a:tc>
                  <a:txBody>
                    <a:bodyPr/>
                    <a:lstStyle/>
                    <a:p>
                      <a:endParaRPr lang="en-US" sz="2000" dirty="0">
                        <a:solidFill>
                          <a:srgbClr val="1F3A4E"/>
                        </a:solidFill>
                      </a:endParaRPr>
                    </a:p>
                  </a:txBody>
                  <a:tcPr>
                    <a:blipFill rotWithShape="1">
                      <a:blip r:embed="rId3"/>
                      <a:stretch>
                        <a:fillRect/>
                      </a:stretch>
                    </a:blipFill>
                  </a:tcPr>
                </a:tc>
                <a:tc>
                  <a:txBody>
                    <a:bodyPr/>
                    <a:lstStyle/>
                    <a:p>
                      <a:pPr marL="0" lvl="1" indent="0" algn="l" defTabSz="114300"/>
                      <a:r>
                        <a:rPr lang="en-US" sz="2400" b="1" baseline="0" dirty="0">
                          <a:solidFill>
                            <a:srgbClr val="FFC000"/>
                          </a:solidFill>
                          <a:latin typeface="Arial" panose="020B0604020202090204" pitchFamily="34" charset="0"/>
                          <a:cs typeface="Arial" panose="020B0604020202090204" pitchFamily="34" charset="0"/>
                        </a:rPr>
                        <a:t>Headers and text containers</a:t>
                      </a:r>
                      <a:br>
                        <a:rPr lang="en-US" sz="2000" b="0" baseline="0" dirty="0">
                          <a:solidFill>
                            <a:schemeClr val="bg1"/>
                          </a:solidFill>
                          <a:latin typeface="Arial" panose="020B0604020202090204" pitchFamily="34" charset="0"/>
                          <a:cs typeface="Arial" panose="020B0604020202090204" pitchFamily="34" charset="0"/>
                        </a:rPr>
                      </a:br>
                      <a:r>
                        <a:rPr lang="en-US" sz="2000" b="0" baseline="0" dirty="0">
                          <a:solidFill>
                            <a:srgbClr val="D9D9D9"/>
                          </a:solidFill>
                          <a:latin typeface="Arial" panose="020B0604020202090204" pitchFamily="34" charset="0"/>
                          <a:cs typeface="Arial" panose="020B0604020202090204" pitchFamily="34" charset="0"/>
                        </a:rPr>
                        <a:t>Included in this template are commonly used section headers such as Abstract, Objectives, Methods, Results, etc. </a:t>
                      </a:r>
                      <a:br>
                        <a:rPr lang="en-US" sz="2000" b="0" baseline="0" dirty="0">
                          <a:solidFill>
                            <a:schemeClr val="bg1"/>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a:t>
                      </a:r>
                      <a:r>
                        <a:rPr lang="en-US" sz="2000" b="0" baseline="0" dirty="0">
                          <a:solidFill>
                            <a:schemeClr val="bg1"/>
                          </a:solidFill>
                          <a:latin typeface="Arial" panose="020B0604020202090204" pitchFamily="34" charset="0"/>
                          <a:cs typeface="Arial" panose="020B0604020202090204" pitchFamily="34" charset="0"/>
                        </a:rPr>
                        <a:t> </a:t>
                      </a:r>
                      <a:r>
                        <a:rPr lang="en-US" sz="2000" b="0" baseline="0" dirty="0">
                          <a:solidFill>
                            <a:srgbClr val="D9D9D9"/>
                          </a:solidFill>
                          <a:latin typeface="Arial" panose="020B0604020202090204" pitchFamily="34" charset="0"/>
                          <a:cs typeface="Arial" panose="020B0604020202090204" pitchFamily="34" charset="0"/>
                        </a:rPr>
                        <a:t>Click inside a section header to add its text. </a:t>
                      </a:r>
                      <a:br>
                        <a:rPr lang="en-US" sz="2000" b="0" baseline="0" dirty="0">
                          <a:solidFill>
                            <a:schemeClr val="bg1"/>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a:t>
                      </a:r>
                      <a:r>
                        <a:rPr lang="en-US" sz="2000" b="0" baseline="0" dirty="0">
                          <a:solidFill>
                            <a:schemeClr val="bg1"/>
                          </a:solidFill>
                          <a:latin typeface="Arial" panose="020B0604020202090204" pitchFamily="34" charset="0"/>
                          <a:cs typeface="Arial" panose="020B0604020202090204" pitchFamily="34" charset="0"/>
                        </a:rPr>
                        <a:t> </a:t>
                      </a:r>
                      <a:r>
                        <a:rPr lang="en-US" sz="2000" b="0" baseline="0" dirty="0">
                          <a:solidFill>
                            <a:srgbClr val="D9D9D9"/>
                          </a:solidFill>
                          <a:latin typeface="Arial" panose="020B0604020202090204" pitchFamily="34" charset="0"/>
                          <a:cs typeface="Arial" panose="020B0604020202090204" pitchFamily="34" charset="0"/>
                        </a:rPr>
                        <a:t>To add another header, click on edge of the section box so that it is outlined. Copy and paste it. </a:t>
                      </a:r>
                      <a:br>
                        <a:rPr lang="en-US" sz="2000" b="0" baseline="0" dirty="0">
                          <a:solidFill>
                            <a:schemeClr val="bg1"/>
                          </a:solidFill>
                          <a:latin typeface="Arial" panose="020B0604020202090204" pitchFamily="34" charset="0"/>
                          <a:cs typeface="Arial" panose="020B0604020202090204" pitchFamily="34" charset="0"/>
                        </a:rPr>
                      </a:br>
                      <a:r>
                        <a:rPr lang="en-US" sz="2000" b="0" baseline="0" dirty="0">
                          <a:solidFill>
                            <a:srgbClr val="FFC000"/>
                          </a:solidFill>
                          <a:latin typeface="Arial" panose="020B0604020202090204" pitchFamily="34" charset="0"/>
                          <a:cs typeface="Arial" panose="020B0604020202090204" pitchFamily="34" charset="0"/>
                        </a:rPr>
                        <a:t>-</a:t>
                      </a:r>
                      <a:r>
                        <a:rPr lang="en-US" sz="2000" b="0" baseline="0" dirty="0">
                          <a:solidFill>
                            <a:schemeClr val="bg1"/>
                          </a:solidFill>
                          <a:latin typeface="Arial" panose="020B0604020202090204" pitchFamily="34" charset="0"/>
                          <a:cs typeface="Arial" panose="020B0604020202090204" pitchFamily="34" charset="0"/>
                        </a:rPr>
                        <a:t> </a:t>
                      </a:r>
                      <a:r>
                        <a:rPr lang="en-US" sz="2000" b="0" baseline="0" dirty="0">
                          <a:solidFill>
                            <a:srgbClr val="D9D9D9"/>
                          </a:solidFill>
                          <a:latin typeface="Arial" panose="020B0604020202090204" pitchFamily="34" charset="0"/>
                          <a:cs typeface="Arial" panose="020B0604020202090204" pitchFamily="34" charset="0"/>
                        </a:rPr>
                        <a:t>To increase its size, click on the white circles and expand to the the desired size.</a:t>
                      </a:r>
                      <a:endParaRPr lang="en-US" sz="2000" b="0" baseline="0" dirty="0">
                        <a:solidFill>
                          <a:srgbClr val="D9D9D9"/>
                        </a:solidFill>
                        <a:latin typeface="Arial" panose="020B0604020202090204" pitchFamily="34" charset="0"/>
                        <a:cs typeface="Arial" panose="020B0604020202090204" pitchFamily="34" charset="0"/>
                      </a:endParaRPr>
                    </a:p>
                  </a:txBody>
                  <a:tcPr marL="182880" marT="137160">
                    <a:solidFill>
                      <a:srgbClr val="010101"/>
                    </a:solidFill>
                  </a:tcPr>
                </a:tc>
              </a:tr>
              <a:tr h="3519135">
                <a:tc gridSpan="2">
                  <a:txBody>
                    <a:bodyPr/>
                    <a:lstStyle/>
                    <a:p>
                      <a:r>
                        <a:rPr lang="en-US" sz="2400" b="1" dirty="0">
                          <a:solidFill>
                            <a:srgbClr val="FFC000"/>
                          </a:solidFill>
                          <a:latin typeface="Arial" panose="020B0604020202090204" pitchFamily="34" charset="0"/>
                          <a:cs typeface="Arial" panose="020B0604020202090204" pitchFamily="34" charset="0"/>
                        </a:rPr>
                        <a:t>Adding content to the poster</a:t>
                      </a:r>
                      <a:endParaRPr lang="en-US" sz="2400" b="1" dirty="0">
                        <a:solidFill>
                          <a:srgbClr val="FFC000"/>
                        </a:solidFill>
                        <a:latin typeface="Arial" panose="020B0604020202090204" pitchFamily="34" charset="0"/>
                        <a:cs typeface="Arial" panose="020B0604020202090204" pitchFamily="34" charset="0"/>
                      </a:endParaRPr>
                    </a:p>
                    <a:p>
                      <a:r>
                        <a:rPr lang="en-US" sz="2000" baseline="0" dirty="0">
                          <a:solidFill>
                            <a:srgbClr val="D9D9D9"/>
                          </a:solidFill>
                          <a:latin typeface="Arial" panose="020B0604020202090204" pitchFamily="34" charset="0"/>
                          <a:cs typeface="Arial" panose="020B060402020209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lang="en-US" sz="2000" baseline="0" dirty="0">
                        <a:solidFill>
                          <a:srgbClr val="D9D9D9"/>
                        </a:solidFill>
                        <a:latin typeface="Arial" panose="020B0604020202090204" pitchFamily="34" charset="0"/>
                        <a:cs typeface="Arial" panose="020B0604020202090204" pitchFamily="34" charset="0"/>
                      </a:endParaRPr>
                    </a:p>
                    <a:p>
                      <a:pPr marL="342900" indent="-342900">
                        <a:buFontTx/>
                        <a:buChar char="-"/>
                      </a:pPr>
                      <a:r>
                        <a:rPr lang="en-US" sz="2000" baseline="0" dirty="0">
                          <a:solidFill>
                            <a:srgbClr val="D9D9D9"/>
                          </a:solidFill>
                          <a:latin typeface="Arial" panose="020B0604020202090204" pitchFamily="34" charset="0"/>
                          <a:cs typeface="Arial" panose="020B060402020209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90204" pitchFamily="34" charset="0"/>
                        <a:cs typeface="Arial" panose="020B0604020202090204" pitchFamily="34" charset="0"/>
                      </a:endParaRPr>
                    </a:p>
                  </a:txBody>
                  <a:tcPr>
                    <a:solidFill>
                      <a:srgbClr val="010101"/>
                    </a:solidFill>
                  </a:tcPr>
                </a:tc>
                <a:tc hMerge="1">
                  <a:tcPr marL="182880" marT="137160">
                    <a:solidFill>
                      <a:srgbClr val="010101"/>
                    </a:solidFill>
                  </a:tcPr>
                </a:tc>
              </a:tr>
              <a:tr h="237765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604020202090204" pitchFamily="34" charset="0"/>
                          <a:cs typeface="Arial" panose="020B0604020202090204" pitchFamily="34" charset="0"/>
                        </a:rPr>
                        <a:t>Photos</a:t>
                      </a:r>
                      <a:endParaRPr lang="en-US" sz="2400" b="1" noProof="0" dirty="0">
                        <a:solidFill>
                          <a:srgbClr val="FFC000"/>
                        </a:solidFill>
                        <a:latin typeface="Arial" panose="020B0604020202090204" pitchFamily="34" charset="0"/>
                        <a:cs typeface="Arial" panose="020B060402020209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604020202090204"/>
                          <a:ea typeface="+mn-ea"/>
                          <a:cs typeface="Arial" panose="020B060402020209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kumimoji="0" lang="en-US" sz="2000" b="0" i="0" u="none" strike="noStrike" kern="1200" cap="none" spc="0" normalizeH="0" baseline="0" noProof="0" dirty="0">
                        <a:ln>
                          <a:noFill/>
                        </a:ln>
                        <a:solidFill>
                          <a:srgbClr val="D9D9D9"/>
                        </a:solidFill>
                        <a:effectLst/>
                        <a:uLnTx/>
                        <a:uFillTx/>
                        <a:latin typeface="Arial" panose="020B0604020202090204"/>
                        <a:ea typeface="+mn-ea"/>
                        <a:cs typeface="Arial" panose="020B0604020202090204"/>
                      </a:endParaRPr>
                    </a:p>
                  </a:txBody>
                  <a:tcPr marL="182880" marT="137160">
                    <a:solidFill>
                      <a:srgbClr val="010101"/>
                    </a:solidFill>
                  </a:tcPr>
                </a:tc>
                <a:tc hMerge="1">
                  <a:tcPr/>
                </a:tc>
              </a:tr>
              <a:tr h="2293170">
                <a:tc gridSpan="2">
                  <a:txBody>
                    <a:bodyPr/>
                    <a:lstStyle/>
                    <a:p>
                      <a:endParaRPr lang="en-US" sz="2000" dirty="0">
                        <a:solidFill>
                          <a:schemeClr val="bg1"/>
                        </a:solidFill>
                        <a:latin typeface="Arial" panose="020B0604020202090204" pitchFamily="34" charset="0"/>
                        <a:cs typeface="Arial" panose="020B0604020202090204" pitchFamily="34" charset="0"/>
                      </a:endParaRPr>
                    </a:p>
                  </a:txBody>
                  <a:tcPr marL="182880" marT="137160">
                    <a:blipFill rotWithShape="1">
                      <a:blip r:embed="rId4"/>
                      <a:stretch>
                        <a:fillRect/>
                      </a:stretch>
                    </a:blipFill>
                  </a:tcPr>
                </a:tc>
                <a:tc hMerge="1">
                  <a:tcPr/>
                </a:tc>
              </a:tr>
              <a:tr h="128027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604020202090204"/>
                          <a:cs typeface="Arial" panose="020B0604020202090204"/>
                        </a:rPr>
                        <a:t>Quality check your graphics</a:t>
                      </a:r>
                      <a:endParaRPr lang="en-US" sz="2400" b="1" noProof="0" dirty="0">
                        <a:solidFill>
                          <a:srgbClr val="FFC000"/>
                        </a:solidFill>
                        <a:latin typeface="Arial" panose="020B0604020202090204"/>
                        <a:cs typeface="Arial" panose="020B060402020209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000" noProof="0" dirty="0">
                          <a:solidFill>
                            <a:srgbClr val="D9D9D9"/>
                          </a:solidFill>
                          <a:latin typeface="Arial" panose="020B0604020202090204"/>
                          <a:cs typeface="Arial" panose="020B0604020202090204"/>
                        </a:rPr>
                        <a:t>Zoom in and look at your images at 100%-200% magnification. If they look clear, they will print well. </a:t>
                      </a:r>
                      <a:endParaRPr lang="en-US" sz="2000" noProof="0" dirty="0">
                        <a:solidFill>
                          <a:srgbClr val="D9D9D9"/>
                        </a:solidFill>
                        <a:latin typeface="Arial" panose="020B0604020202090204"/>
                        <a:cs typeface="Arial" panose="020B0604020202090204"/>
                      </a:endParaRPr>
                    </a:p>
                  </a:txBody>
                  <a:tcPr marL="182880" marT="137160">
                    <a:solidFill>
                      <a:srgbClr val="010101"/>
                    </a:solidFill>
                  </a:tcPr>
                </a:tc>
                <a:tc hMerge="1">
                  <a:tcPr>
                    <a:solidFill>
                      <a:schemeClr val="tx1">
                        <a:lumMod val="95000"/>
                        <a:lumOff val="5000"/>
                      </a:schemeClr>
                    </a:solidFill>
                  </a:tcPr>
                </a:tc>
              </a:tr>
              <a:tr h="3187270">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000" noProof="0" dirty="0">
                        <a:solidFill>
                          <a:schemeClr val="bg1"/>
                        </a:solidFill>
                        <a:latin typeface="Arial" panose="020B0604020202090204"/>
                        <a:cs typeface="Arial" panose="020B0604020202090204"/>
                      </a:endParaRPr>
                    </a:p>
                  </a:txBody>
                  <a:tcPr marL="182880" marT="137160">
                    <a:blipFill rotWithShape="1">
                      <a:blip r:embed="rId5"/>
                      <a:stretch>
                        <a:fillRect/>
                      </a:stretch>
                    </a:blipFill>
                  </a:tcPr>
                </a:tc>
                <a:tc hMerge="1">
                  <a:tcPr/>
                </a:tc>
              </a:tr>
            </a:tbl>
          </a:graphicData>
        </a:graphic>
      </p:graphicFrame>
      <p:graphicFrame>
        <p:nvGraphicFramePr>
          <p:cNvPr id="4" name="Table 3"/>
          <p:cNvGraphicFramePr>
            <a:graphicFrameLocks noGrp="1"/>
          </p:cNvGraphicFramePr>
          <p:nvPr userDrawn="1"/>
        </p:nvGraphicFramePr>
        <p:xfrm>
          <a:off x="44695229" y="-84749"/>
          <a:ext cx="9430188" cy="33075070"/>
        </p:xfrm>
        <a:graphic>
          <a:graphicData uri="http://schemas.openxmlformats.org/drawingml/2006/table">
            <a:tbl>
              <a:tblPr firstRow="1" bandRow="1">
                <a:tableStyleId>{5C22544A-7EE6-4342-B048-85BDC9FD1C3A}</a:tableStyleId>
              </a:tblPr>
              <a:tblGrid>
                <a:gridCol w="3343835"/>
                <a:gridCol w="1381559"/>
                <a:gridCol w="4704794"/>
              </a:tblGrid>
              <a:tr h="1756432">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anose="020B0603020202020204" pitchFamily="34" charset="0"/>
                        </a:rPr>
                        <a:t>(THIS SIDEBAR WILL NOT PRINT)</a:t>
                      </a:r>
                      <a:endParaRPr lang="en-US" sz="4000" b="1" spc="600" dirty="0">
                        <a:solidFill>
                          <a:schemeClr val="bg1"/>
                        </a:solidFill>
                        <a:latin typeface="Trebuchet MS" panose="020B0603020202020204" pitchFamily="34" charset="0"/>
                      </a:endParaRPr>
                    </a:p>
                  </a:txBody>
                  <a:tcPr marL="182880" marT="137160">
                    <a:solidFill>
                      <a:srgbClr val="FFC000"/>
                    </a:solidFill>
                  </a:tcPr>
                </a:tc>
                <a:tc hMerge="1">
                  <a:tcPr/>
                </a:tc>
                <a:tc hMerge="1">
                  <a:tcPr/>
                </a:tc>
              </a:tr>
              <a:tr h="5563101">
                <a:tc gridSpan="3">
                  <a:txBody>
                    <a:bodyPr/>
                    <a:lstStyle/>
                    <a:p>
                      <a:pPr algn="l"/>
                      <a:r>
                        <a:rPr lang="en-US" sz="2800" b="1" baseline="0" dirty="0">
                          <a:solidFill>
                            <a:srgbClr val="FFC000"/>
                          </a:solidFill>
                          <a:latin typeface="Arial" panose="020B0604020202090204" pitchFamily="34" charset="0"/>
                          <a:cs typeface="Arial" panose="020B0604020202090204" pitchFamily="34" charset="0"/>
                        </a:rPr>
                        <a:t>How to change the template colors</a:t>
                      </a:r>
                      <a:endParaRPr lang="en-US" sz="2800" b="1" baseline="0" dirty="0">
                        <a:solidFill>
                          <a:srgbClr val="FFC000"/>
                        </a:solidFill>
                        <a:latin typeface="Arial" panose="020B0604020202090204" pitchFamily="34" charset="0"/>
                        <a:cs typeface="Arial" panose="020B0604020202090204" pitchFamily="34" charset="0"/>
                      </a:endParaRPr>
                    </a:p>
                    <a:p>
                      <a:pPr marL="0" indent="0" algn="l" defTabSz="114300"/>
                      <a:r>
                        <a:rPr lang="en-US" sz="2400" b="0" baseline="0" dirty="0">
                          <a:solidFill>
                            <a:srgbClr val="D9D9D9"/>
                          </a:solidFill>
                          <a:latin typeface="Arial" panose="020B0604020202090204" pitchFamily="34" charset="0"/>
                          <a:cs typeface="Arial" panose="020B0604020202090204" pitchFamily="34" charset="0"/>
                        </a:rPr>
                        <a:t>You can change the overall template color theme by clicking on the COLORS dropdown menu under the DESIGN tab. You can see a tutorial here: </a:t>
                      </a:r>
                      <a:r>
                        <a:rPr lang="en-US" sz="2400" dirty="0">
                          <a:solidFill>
                            <a:srgbClr val="FFC000"/>
                          </a:solidFill>
                          <a:hlinkClick r:id="rId6"/>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90204" pitchFamily="34" charset="0"/>
                        <a:cs typeface="Arial" panose="020B0604020202090204" pitchFamily="34" charset="0"/>
                      </a:endParaRPr>
                    </a:p>
                    <a:p>
                      <a:pPr marL="0" indent="0" algn="l" defTabSz="114300"/>
                      <a:r>
                        <a:rPr lang="en-US" sz="2400" b="0" baseline="0" dirty="0">
                          <a:solidFill>
                            <a:srgbClr val="D9D9D9"/>
                          </a:solidFill>
                          <a:latin typeface="Arial" panose="020B0604020202090204" pitchFamily="34" charset="0"/>
                          <a:cs typeface="Arial" panose="020B0604020202090204" pitchFamily="34" charset="0"/>
                        </a:rPr>
                        <a:t>You can also manually change the color of individual elements by going to VIEW &gt; SLIDE MASTER. On the left side of your screen select the background master where you can change the template background, column sizes, etc. </a:t>
                      </a:r>
                      <a:endParaRPr lang="en-US" sz="2400" b="0" baseline="0" dirty="0">
                        <a:solidFill>
                          <a:srgbClr val="D9D9D9"/>
                        </a:solidFill>
                        <a:latin typeface="Arial" panose="020B0604020202090204" pitchFamily="34" charset="0"/>
                        <a:cs typeface="Arial" panose="020B0604020202090204" pitchFamily="34" charset="0"/>
                      </a:endParaRPr>
                    </a:p>
                    <a:p>
                      <a:pPr marL="0" indent="0" algn="l" defTabSz="114300"/>
                      <a:endParaRPr lang="en-US" sz="2400" b="0" baseline="0" dirty="0">
                        <a:solidFill>
                          <a:srgbClr val="D9D9D9"/>
                        </a:solidFill>
                        <a:latin typeface="Arial" panose="020B0604020202090204" pitchFamily="34" charset="0"/>
                        <a:cs typeface="Arial" panose="020B0604020202090204" pitchFamily="34" charset="0"/>
                      </a:endParaRPr>
                    </a:p>
                    <a:p>
                      <a:pPr marL="0" indent="0" algn="l" defTabSz="114300"/>
                      <a:r>
                        <a:rPr lang="en-US" sz="2400" b="0" baseline="0" dirty="0">
                          <a:solidFill>
                            <a:srgbClr val="D9D9D9"/>
                          </a:solidFill>
                          <a:latin typeface="Arial" panose="020B0604020202090204" pitchFamily="34" charset="0"/>
                          <a:cs typeface="Arial" panose="020B0604020202090204" pitchFamily="34" charset="0"/>
                        </a:rPr>
                        <a:t>After you finish working on the SLIDE MASTER, it is important that you go to VIEW &gt; NORMAL to continue working on your poster. </a:t>
                      </a:r>
                      <a:endParaRPr lang="en-US" sz="2400" b="0" baseline="0" dirty="0">
                        <a:solidFill>
                          <a:srgbClr val="D9D9D9"/>
                        </a:solidFill>
                        <a:latin typeface="Arial" panose="020B0604020202090204" pitchFamily="34" charset="0"/>
                        <a:cs typeface="Arial" panose="020B0604020202090204" pitchFamily="34" charset="0"/>
                      </a:endParaRPr>
                    </a:p>
                  </a:txBody>
                  <a:tcPr marL="182880" marT="137160">
                    <a:solidFill>
                      <a:schemeClr val="tx1"/>
                    </a:solidFill>
                  </a:tcPr>
                </a:tc>
                <a:tc hMerge="1">
                  <a:tcPr marL="182880" marT="137160">
                    <a:blipFill rotWithShape="1">
                      <a:blip r:embed="rId7"/>
                      <a:stretch>
                        <a:fillRect/>
                      </a:stretch>
                    </a:blipFill>
                  </a:tcPr>
                </a:tc>
                <a:tc hMerge="1">
                  <a:tcPr/>
                </a:tc>
              </a:tr>
              <a:tr h="3667719">
                <a:tc gridSpan="3">
                  <a:txBody>
                    <a:bodyPr/>
                    <a:lstStyle/>
                    <a:p>
                      <a:r>
                        <a:rPr lang="en-US" sz="2800" b="1" dirty="0">
                          <a:solidFill>
                            <a:srgbClr val="FFC000"/>
                          </a:solidFill>
                          <a:latin typeface="Arial" panose="020B0604020202090204" pitchFamily="34" charset="0"/>
                          <a:cs typeface="Arial" panose="020B0604020202090204" pitchFamily="34" charset="0"/>
                        </a:rPr>
                        <a:t>How to change the column layout configuration</a:t>
                      </a:r>
                      <a:endParaRPr lang="en-US" sz="2800" b="1" dirty="0">
                        <a:solidFill>
                          <a:srgbClr val="FFC000"/>
                        </a:solidFill>
                        <a:latin typeface="Arial" panose="020B0604020202090204" pitchFamily="34" charset="0"/>
                        <a:cs typeface="Arial" panose="020B0604020202090204" pitchFamily="34" charset="0"/>
                      </a:endParaRPr>
                    </a:p>
                    <a:p>
                      <a:r>
                        <a:rPr lang="en-US" sz="2400" dirty="0">
                          <a:solidFill>
                            <a:srgbClr val="D9D9D9"/>
                          </a:solidFill>
                          <a:latin typeface="Arial" panose="020B0604020202090204" pitchFamily="34" charset="0"/>
                          <a:cs typeface="Arial" panose="020B0604020202090204" pitchFamily="34" charset="0"/>
                        </a:rPr>
                        <a:t>You can manually change the configuration on the columns by going to VIEW &gt; SLIDE MASTER. You can delete columns, resize them or modify them as needed for your layout. </a:t>
                      </a:r>
                      <a:endParaRPr lang="en-US" sz="2400" dirty="0">
                        <a:solidFill>
                          <a:srgbClr val="D9D9D9"/>
                        </a:solidFill>
                        <a:latin typeface="Arial" panose="020B0604020202090204" pitchFamily="34" charset="0"/>
                        <a:cs typeface="Arial" panose="020B0604020202090204" pitchFamily="34" charset="0"/>
                      </a:endParaRPr>
                    </a:p>
                    <a:p>
                      <a:pPr marL="0" marR="0" indent="0" algn="l" defTabSz="3765550" rtl="0" eaLnBrk="1" fontAlgn="auto" latinLnBrk="0" hangingPunct="1">
                        <a:lnSpc>
                          <a:spcPct val="100000"/>
                        </a:lnSpc>
                        <a:spcBef>
                          <a:spcPts val="0"/>
                        </a:spcBef>
                        <a:spcAft>
                          <a:spcPts val="0"/>
                        </a:spcAft>
                        <a:buClrTx/>
                        <a:buSzTx/>
                        <a:buFontTx/>
                        <a:buNone/>
                        <a:defRPr/>
                      </a:pPr>
                      <a:r>
                        <a:rPr lang="en-US" sz="2400" dirty="0">
                          <a:solidFill>
                            <a:srgbClr val="D9D9D9"/>
                          </a:solidFill>
                          <a:latin typeface="Arial" panose="020B0604020202090204" pitchFamily="34" charset="0"/>
                          <a:cs typeface="Arial" panose="020B0604020202090204" pitchFamily="34" charset="0"/>
                        </a:rPr>
                        <a:t>You can see a tutorial here: </a:t>
                      </a:r>
                      <a:r>
                        <a:rPr lang="en-US" sz="2400" u="sng" dirty="0">
                          <a:solidFill>
                            <a:srgbClr val="FFC000"/>
                          </a:solidFill>
                          <a:latin typeface="Arial" panose="020B0604020202090204" pitchFamily="34" charset="0"/>
                          <a:cs typeface="Arial" panose="020B0604020202090204" pitchFamily="34" charset="0"/>
                        </a:rPr>
                        <a:t>https://</a:t>
                      </a:r>
                      <a:r>
                        <a:rPr lang="en-US" sz="2400" u="sng" dirty="0" err="1">
                          <a:solidFill>
                            <a:srgbClr val="FFC000"/>
                          </a:solidFill>
                          <a:latin typeface="Arial" panose="020B0604020202090204" pitchFamily="34" charset="0"/>
                          <a:cs typeface="Arial" panose="020B0604020202090204" pitchFamily="34" charset="0"/>
                        </a:rPr>
                        <a:t>www.posterpresentations.com</a:t>
                      </a:r>
                      <a:r>
                        <a:rPr lang="en-US" sz="2400" u="sng" dirty="0">
                          <a:solidFill>
                            <a:srgbClr val="FFC000"/>
                          </a:solidFill>
                          <a:latin typeface="Arial" panose="020B0604020202090204" pitchFamily="34" charset="0"/>
                          <a:cs typeface="Arial" panose="020B0604020202090204" pitchFamily="34" charset="0"/>
                        </a:rPr>
                        <a:t>/how-to-change-the-column-</a:t>
                      </a:r>
                      <a:r>
                        <a:rPr lang="en-US" sz="2400" u="sng" dirty="0" err="1">
                          <a:solidFill>
                            <a:srgbClr val="FFC000"/>
                          </a:solidFill>
                          <a:latin typeface="Arial" panose="020B0604020202090204" pitchFamily="34" charset="0"/>
                          <a:cs typeface="Arial" panose="020B0604020202090204" pitchFamily="34" charset="0"/>
                        </a:rPr>
                        <a:t>configuration.html</a:t>
                      </a:r>
                      <a:endParaRPr lang="en-US" u="sng" dirty="0">
                        <a:solidFill>
                          <a:srgbClr val="FFC000"/>
                        </a:solidFill>
                      </a:endParaRPr>
                    </a:p>
                  </a:txBody>
                  <a:tcPr marL="182880" marT="137160">
                    <a:solidFill>
                      <a:schemeClr val="tx1"/>
                    </a:solidFill>
                  </a:tcPr>
                </a:tc>
                <a:tc hMerge="1">
                  <a:tcPr marL="182880" marT="137160">
                    <a:blipFill rotWithShape="1">
                      <a:blip r:embed="rId8"/>
                      <a:stretch>
                        <a:fillRect/>
                      </a:stretch>
                    </a:blipFill>
                  </a:tcPr>
                </a:tc>
                <a:tc hMerge="1">
                  <a:tcPr marL="182880" marT="137160">
                    <a:solidFill>
                      <a:srgbClr val="010101"/>
                    </a:solidFill>
                  </a:tcPr>
                </a:tc>
              </a:tr>
              <a:tr h="517707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604020202090204" pitchFamily="34" charset="0"/>
                        <a:cs typeface="Arial" panose="020B0604020202090204" pitchFamily="34" charset="0"/>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604020202090204" pitchFamily="34" charset="0"/>
                          <a:cs typeface="Arial" panose="020B0604020202090204" pitchFamily="34" charset="0"/>
                        </a:rPr>
                        <a:t>How to hide the QUICK START GUIDE bars from the sides of the template</a:t>
                      </a:r>
                      <a:endParaRPr lang="en-US" sz="2800" b="1" noProof="0" dirty="0">
                        <a:solidFill>
                          <a:srgbClr val="FFC000"/>
                        </a:solidFill>
                        <a:latin typeface="Arial" panose="020B0604020202090204" pitchFamily="34" charset="0"/>
                        <a:cs typeface="Arial" panose="020B060402020209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604020202090204" pitchFamily="34" charset="0"/>
                          <a:cs typeface="Arial" panose="020B0604020202090204" pitchFamily="34" charset="0"/>
                        </a:rPr>
                        <a:t>The Quick Start</a:t>
                      </a:r>
                      <a:r>
                        <a:rPr lang="en-US" sz="2400" baseline="0" noProof="0" dirty="0">
                          <a:solidFill>
                            <a:srgbClr val="D9D9D9"/>
                          </a:solidFill>
                          <a:latin typeface="Arial" panose="020B0604020202090204" pitchFamily="34" charset="0"/>
                          <a:cs typeface="Arial" panose="020B0604020202090204" pitchFamily="34" charset="0"/>
                        </a:rPr>
                        <a:t> Guides</a:t>
                      </a:r>
                      <a:r>
                        <a:rPr lang="en-US" sz="2400" noProof="0" dirty="0">
                          <a:solidFill>
                            <a:srgbClr val="D9D9D9"/>
                          </a:solidFill>
                          <a:latin typeface="Arial" panose="020B0604020202090204" pitchFamily="34" charset="0"/>
                          <a:cs typeface="Arial" panose="020B0604020202090204" pitchFamily="34" charset="0"/>
                        </a:rPr>
                        <a:t> </a:t>
                      </a:r>
                      <a:r>
                        <a:rPr lang="en-US" sz="2400" u="sng" noProof="0" dirty="0">
                          <a:solidFill>
                            <a:srgbClr val="D9D9D9"/>
                          </a:solidFill>
                          <a:latin typeface="Arial" panose="020B0604020202090204" pitchFamily="34" charset="0"/>
                          <a:cs typeface="Arial" panose="020B0604020202090204" pitchFamily="34" charset="0"/>
                        </a:rPr>
                        <a:t>are outside the template’s printable area</a:t>
                      </a:r>
                      <a:r>
                        <a:rPr lang="en-US" sz="2400" noProof="0" dirty="0">
                          <a:solidFill>
                            <a:srgbClr val="D9D9D9"/>
                          </a:solidFill>
                          <a:latin typeface="Arial" panose="020B0604020202090204" pitchFamily="34" charset="0"/>
                          <a:cs typeface="Arial" panose="020B0604020202090204" pitchFamily="34" charset="0"/>
                        </a:rPr>
                        <a:t> and they will not be on the printed poster</a:t>
                      </a:r>
                      <a:r>
                        <a:rPr lang="en-US" sz="2400" baseline="0" noProof="0" dirty="0">
                          <a:solidFill>
                            <a:srgbClr val="D9D9D9"/>
                          </a:solidFill>
                          <a:latin typeface="Arial" panose="020B0604020202090204" pitchFamily="34" charset="0"/>
                          <a:cs typeface="Arial" panose="020B0604020202090204" pitchFamily="34" charset="0"/>
                        </a:rPr>
                        <a:t>. </a:t>
                      </a:r>
                      <a:endParaRPr lang="en-US" sz="2400" baseline="0" noProof="0" dirty="0">
                        <a:solidFill>
                          <a:srgbClr val="D9D9D9"/>
                        </a:solidFill>
                        <a:latin typeface="Arial" panose="020B0604020202090204" pitchFamily="34" charset="0"/>
                        <a:cs typeface="Arial" panose="020B060402020209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baseline="0" noProof="0" dirty="0">
                        <a:solidFill>
                          <a:srgbClr val="D9D9D9"/>
                        </a:solidFill>
                        <a:latin typeface="Arial" panose="020B0604020202090204" pitchFamily="34" charset="0"/>
                        <a:cs typeface="Arial" panose="020B060402020209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baseline="0" noProof="0" dirty="0">
                          <a:solidFill>
                            <a:srgbClr val="D9D9D9"/>
                          </a:solidFill>
                          <a:latin typeface="Arial" panose="020B0604020202090204" pitchFamily="34" charset="0"/>
                          <a:cs typeface="Arial" panose="020B0604020202090204" pitchFamily="34" charset="0"/>
                        </a:rPr>
                        <a:t>If you create a PDF file from your template, the guides will not be included.</a:t>
                      </a:r>
                      <a:endParaRPr lang="en-US" sz="2400" baseline="0" noProof="0" dirty="0">
                        <a:solidFill>
                          <a:srgbClr val="D9D9D9"/>
                        </a:solidFill>
                        <a:latin typeface="Arial" panose="020B0604020202090204" pitchFamily="34" charset="0"/>
                        <a:cs typeface="Arial" panose="020B060402020209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baseline="0" noProof="0" dirty="0">
                        <a:solidFill>
                          <a:srgbClr val="D9D9D9"/>
                        </a:solidFill>
                        <a:latin typeface="Arial" panose="020B0604020202090204" pitchFamily="34" charset="0"/>
                        <a:cs typeface="Arial" panose="020B060402020209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baseline="0" noProof="0" dirty="0">
                          <a:solidFill>
                            <a:srgbClr val="D9D9D9"/>
                          </a:solidFill>
                          <a:latin typeface="Arial" panose="020B0604020202090204" pitchFamily="34" charset="0"/>
                          <a:cs typeface="Arial" panose="020B0604020202090204" pitchFamily="34" charset="0"/>
                        </a:rPr>
                        <a:t>To hide the guides click on the </a:t>
                      </a:r>
                      <a:r>
                        <a:rPr lang="en-US" sz="2400" b="1" baseline="0" noProof="0" dirty="0">
                          <a:solidFill>
                            <a:srgbClr val="D9D9D9"/>
                          </a:solidFill>
                          <a:latin typeface="Arial" panose="020B0604020202090204" pitchFamily="34" charset="0"/>
                          <a:cs typeface="Arial" panose="020B0604020202090204" pitchFamily="34" charset="0"/>
                        </a:rPr>
                        <a:t>Home</a:t>
                      </a:r>
                      <a:r>
                        <a:rPr lang="en-US" sz="2400" baseline="0" noProof="0" dirty="0">
                          <a:solidFill>
                            <a:srgbClr val="D9D9D9"/>
                          </a:solidFill>
                          <a:latin typeface="Arial" panose="020B0604020202090204" pitchFamily="34" charset="0"/>
                          <a:cs typeface="Arial" panose="020B0604020202090204" pitchFamily="34" charset="0"/>
                        </a:rPr>
                        <a:t> tab (top of the screen) and then click on the </a:t>
                      </a:r>
                      <a:r>
                        <a:rPr lang="en-US" sz="2400" b="1" baseline="0" noProof="0" dirty="0">
                          <a:solidFill>
                            <a:srgbClr val="D9D9D9"/>
                          </a:solidFill>
                          <a:latin typeface="Arial" panose="020B0604020202090204" pitchFamily="34" charset="0"/>
                          <a:cs typeface="Arial" panose="020B0604020202090204" pitchFamily="34" charset="0"/>
                        </a:rPr>
                        <a:t>Layout</a:t>
                      </a:r>
                      <a:r>
                        <a:rPr lang="en-US" sz="2400" baseline="0" noProof="0" dirty="0">
                          <a:solidFill>
                            <a:srgbClr val="D9D9D9"/>
                          </a:solidFill>
                          <a:latin typeface="Arial" panose="020B0604020202090204" pitchFamily="34" charset="0"/>
                          <a:cs typeface="Arial" panose="020B0604020202090204" pitchFamily="34" charset="0"/>
                        </a:rPr>
                        <a:t> button below to see the available layouts. Choose the </a:t>
                      </a:r>
                      <a:r>
                        <a:rPr lang="en-US" sz="2400" b="1" baseline="0" noProof="0" dirty="0">
                          <a:solidFill>
                            <a:srgbClr val="D9D9D9"/>
                          </a:solidFill>
                          <a:latin typeface="Arial" panose="020B0604020202090204" pitchFamily="34" charset="0"/>
                          <a:cs typeface="Arial" panose="020B0604020202090204" pitchFamily="34" charset="0"/>
                        </a:rPr>
                        <a:t>Without Guides </a:t>
                      </a:r>
                      <a:r>
                        <a:rPr lang="en-US" sz="2400" b="0" baseline="0" noProof="0" dirty="0">
                          <a:solidFill>
                            <a:srgbClr val="D9D9D9"/>
                          </a:solidFill>
                          <a:latin typeface="Arial" panose="020B0604020202090204" pitchFamily="34" charset="0"/>
                          <a:cs typeface="Arial" panose="020B0604020202090204" pitchFamily="34" charset="0"/>
                        </a:rPr>
                        <a:t>layout</a:t>
                      </a:r>
                      <a:r>
                        <a:rPr lang="en-US" sz="2400" baseline="0" noProof="0" dirty="0">
                          <a:solidFill>
                            <a:srgbClr val="D9D9D9"/>
                          </a:solidFill>
                          <a:latin typeface="Arial" panose="020B0604020202090204" pitchFamily="34" charset="0"/>
                          <a:cs typeface="Arial" panose="020B0604020202090204" pitchFamily="34" charset="0"/>
                        </a:rPr>
                        <a:t>.</a:t>
                      </a:r>
                      <a:endParaRPr lang="en-US" sz="2400" noProof="0" dirty="0">
                        <a:solidFill>
                          <a:srgbClr val="D9D9D9"/>
                        </a:solidFill>
                        <a:latin typeface="Arial" panose="020B0604020202090204" pitchFamily="34" charset="0"/>
                        <a:cs typeface="Arial" panose="020B060402020209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604020202090204" pitchFamily="34" charset="0"/>
                        <a:cs typeface="Arial" panose="020B0604020202090204" pitchFamily="34" charset="0"/>
                      </a:endParaRPr>
                    </a:p>
                  </a:txBody>
                  <a:tcPr marL="182880" marT="137160">
                    <a:solidFill>
                      <a:srgbClr val="010101"/>
                    </a:solidFill>
                  </a:tcPr>
                </a:tc>
              </a:tr>
              <a:tr h="288832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604020202090204" pitchFamily="34" charset="0"/>
                        <a:cs typeface="Arial" panose="020B0604020202090204" pitchFamily="34" charset="0"/>
                      </a:endParaRPr>
                    </a:p>
                  </a:txBody>
                  <a:tcPr marL="182880" marT="137160">
                    <a:solidFill>
                      <a:srgbClr val="010101"/>
                    </a:solidFill>
                  </a:tcPr>
                </a:tc>
                <a:tc hMerge="1">
                  <a:tcPr/>
                </a:tc>
                <a:tc vMerge="1">
                  <a:tcPr/>
                </a:tc>
              </a:tr>
              <a:tr h="3781426">
                <a:tc gridSpan="2">
                  <a:txBody>
                    <a:bodyPr/>
                    <a:lstStyle/>
                    <a:p>
                      <a:r>
                        <a:rPr lang="en-US" sz="2800" b="1" dirty="0">
                          <a:solidFill>
                            <a:srgbClr val="FFC000"/>
                          </a:solidFill>
                          <a:latin typeface="Arial" panose="020B0604020202090204" pitchFamily="34" charset="0"/>
                          <a:cs typeface="Arial" panose="020B0604020202090204" pitchFamily="34" charset="0"/>
                        </a:rPr>
                        <a:t>How to</a:t>
                      </a:r>
                      <a:r>
                        <a:rPr lang="en-US" sz="2800" b="1" baseline="0" dirty="0">
                          <a:solidFill>
                            <a:srgbClr val="FFC000"/>
                          </a:solidFill>
                          <a:latin typeface="Arial" panose="020B0604020202090204" pitchFamily="34" charset="0"/>
                          <a:cs typeface="Arial" panose="020B0604020202090204" pitchFamily="34" charset="0"/>
                        </a:rPr>
                        <a:t> preview your poster prior to printing</a:t>
                      </a:r>
                      <a:endParaRPr lang="en-US" sz="2800" b="1" dirty="0">
                        <a:solidFill>
                          <a:srgbClr val="FFC000"/>
                        </a:solidFill>
                        <a:latin typeface="Arial" panose="020B0604020202090204" pitchFamily="34" charset="0"/>
                        <a:cs typeface="Arial" panose="020B0604020202090204" pitchFamily="34" charset="0"/>
                      </a:endParaRPr>
                    </a:p>
                    <a:p>
                      <a:r>
                        <a:rPr lang="en-US" sz="2400" dirty="0">
                          <a:solidFill>
                            <a:srgbClr val="D9D9D9"/>
                          </a:solidFill>
                          <a:latin typeface="Arial" panose="020B0604020202090204" pitchFamily="34" charset="0"/>
                          <a:cs typeface="Arial" panose="020B0604020202090204" pitchFamily="34" charset="0"/>
                        </a:rPr>
                        <a:t>You can preview your poster at any time by pressing the </a:t>
                      </a:r>
                      <a:r>
                        <a:rPr lang="en-US" sz="2400" dirty="0">
                          <a:solidFill>
                            <a:srgbClr val="FFC000"/>
                          </a:solidFill>
                          <a:latin typeface="Arial" panose="020B0604020202090204" pitchFamily="34" charset="0"/>
                          <a:cs typeface="Arial" panose="020B0604020202090204" pitchFamily="34" charset="0"/>
                        </a:rPr>
                        <a:t>F5 key</a:t>
                      </a:r>
                      <a:r>
                        <a:rPr lang="en-US" sz="2400" dirty="0">
                          <a:solidFill>
                            <a:srgbClr val="D9D9D9"/>
                          </a:solidFill>
                          <a:latin typeface="Arial" panose="020B0604020202090204" pitchFamily="34" charset="0"/>
                          <a:cs typeface="Arial" panose="020B0604020202090204" pitchFamily="34" charset="0"/>
                        </a:rPr>
                        <a:t> on your keyboard. You will see on the screen what's on your poster and how it should look when printed. Press the </a:t>
                      </a:r>
                      <a:r>
                        <a:rPr lang="en-US" sz="2400" dirty="0">
                          <a:solidFill>
                            <a:srgbClr val="FFC000"/>
                          </a:solidFill>
                          <a:latin typeface="Arial" panose="020B0604020202090204" pitchFamily="34" charset="0"/>
                          <a:cs typeface="Arial" panose="020B0604020202090204" pitchFamily="34" charset="0"/>
                        </a:rPr>
                        <a:t>ESC key </a:t>
                      </a:r>
                      <a:r>
                        <a:rPr lang="en-US" sz="2400" dirty="0">
                          <a:solidFill>
                            <a:srgbClr val="D9D9D9"/>
                          </a:solidFill>
                          <a:latin typeface="Arial" panose="020B0604020202090204" pitchFamily="34" charset="0"/>
                          <a:cs typeface="Arial" panose="020B0604020202090204" pitchFamily="34" charset="0"/>
                        </a:rPr>
                        <a:t>to exit Preview.</a:t>
                      </a:r>
                      <a:endParaRPr lang="en-US" sz="2400" dirty="0">
                        <a:solidFill>
                          <a:srgbClr val="D9D9D9"/>
                        </a:solidFill>
                        <a:latin typeface="Arial" panose="020B0604020202090204" pitchFamily="34" charset="0"/>
                        <a:cs typeface="Arial" panose="020B0604020202090204" pitchFamily="34" charset="0"/>
                      </a:endParaRPr>
                    </a:p>
                  </a:txBody>
                  <a:tcPr marL="182880" marT="137160">
                    <a:solidFill>
                      <a:srgbClr val="010101"/>
                    </a:solidFill>
                  </a:tcPr>
                </a:tc>
                <a:tc hMerge="1">
                  <a:tcPr/>
                </a:tc>
                <a:tc>
                  <a:txBody>
                    <a:bodyPr/>
                    <a:lstStyle/>
                    <a:p>
                      <a:pPr algn="ctr"/>
                      <a:r>
                        <a:rPr lang="en-US" sz="11500" b="1" dirty="0">
                          <a:solidFill>
                            <a:srgbClr val="D9D9D9"/>
                          </a:solidFill>
                          <a:latin typeface="Arial" panose="020B0604020202090204" pitchFamily="34" charset="0"/>
                          <a:cs typeface="Arial" panose="020B0604020202090204" pitchFamily="34" charset="0"/>
                        </a:rPr>
                        <a:t>F5</a:t>
                      </a:r>
                      <a:r>
                        <a:rPr lang="en-US" sz="2400" baseline="0" dirty="0">
                          <a:solidFill>
                            <a:srgbClr val="D9D9D9"/>
                          </a:solidFill>
                          <a:latin typeface="Arial" panose="020B0604020202090204" pitchFamily="34" charset="0"/>
                          <a:cs typeface="Arial" panose="020B0604020202090204" pitchFamily="34" charset="0"/>
                        </a:rPr>
                        <a:t> </a:t>
                      </a:r>
                      <a:endParaRPr lang="en-US" dirty="0"/>
                    </a:p>
                  </a:txBody>
                  <a:tcPr marL="182880" marT="137160" anchor="ctr">
                    <a:solidFill>
                      <a:schemeClr val="tx1">
                        <a:lumMod val="95000"/>
                        <a:lumOff val="5000"/>
                      </a:schemeClr>
                    </a:solidFill>
                  </a:tcPr>
                </a:tc>
              </a:tr>
              <a:tr h="5674009">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800" b="1" noProof="0" dirty="0">
                          <a:solidFill>
                            <a:srgbClr val="FFC000"/>
                          </a:solidFill>
                          <a:latin typeface="Arial" panose="020B0604020202090204"/>
                          <a:cs typeface="Arial" panose="020B0604020202090204"/>
                        </a:rPr>
                        <a:t>How to print your poster</a:t>
                      </a:r>
                      <a:endParaRPr lang="en-US" sz="2800" b="1" noProof="0" dirty="0">
                        <a:solidFill>
                          <a:srgbClr val="FFC000"/>
                        </a:solidFill>
                        <a:latin typeface="Arial" panose="020B0604020202090204"/>
                        <a:cs typeface="Arial" panose="020B060402020209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604020202090204"/>
                          <a:cs typeface="Arial" panose="020B0604020202090204"/>
                        </a:rPr>
                        <a:t>When you are ready to have your poster printed go online to </a:t>
                      </a:r>
                      <a:r>
                        <a:rPr lang="en-US" sz="2400" noProof="0" dirty="0" err="1">
                          <a:solidFill>
                            <a:srgbClr val="FFC000"/>
                          </a:solidFill>
                          <a:latin typeface="Arial" panose="020B0604020202090204"/>
                          <a:cs typeface="Arial" panose="020B0604020202090204"/>
                        </a:rPr>
                        <a:t>PosterPresentations.com</a:t>
                      </a:r>
                      <a:r>
                        <a:rPr lang="en-US" sz="2400" noProof="0" dirty="0">
                          <a:solidFill>
                            <a:srgbClr val="D9D9D9"/>
                          </a:solidFill>
                          <a:latin typeface="Arial" panose="020B0604020202090204"/>
                          <a:cs typeface="Arial" panose="020B0604020202090204"/>
                        </a:rPr>
                        <a:t> and click on the "</a:t>
                      </a:r>
                      <a:r>
                        <a:rPr lang="en-US" sz="2400" noProof="0" dirty="0">
                          <a:solidFill>
                            <a:srgbClr val="FFC000"/>
                          </a:solidFill>
                          <a:latin typeface="Arial" panose="020B0604020202090204"/>
                          <a:cs typeface="Arial" panose="020B0604020202090204"/>
                        </a:rPr>
                        <a:t>Order Your Poster</a:t>
                      </a:r>
                      <a:r>
                        <a:rPr lang="en-US" sz="2400" noProof="0" dirty="0">
                          <a:solidFill>
                            <a:srgbClr val="D9D9D9"/>
                          </a:solidFill>
                          <a:latin typeface="Arial" panose="020B0604020202090204"/>
                          <a:cs typeface="Arial" panose="020B0604020202090204"/>
                        </a:rPr>
                        <a:t>" button. You can have your poster printed on professional papers, fabric for easy traveling and a variety of other materials. </a:t>
                      </a:r>
                      <a:endParaRPr lang="en-US" sz="2400" noProof="0" dirty="0">
                        <a:solidFill>
                          <a:srgbClr val="D9D9D9"/>
                        </a:solidFill>
                        <a:latin typeface="Arial" panose="020B0604020202090204"/>
                        <a:cs typeface="Arial" panose="020B060402020209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604020202090204"/>
                          <a:cs typeface="Arial" panose="020B0604020202090204"/>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lang="en-US" sz="2400" noProof="0" dirty="0">
                        <a:solidFill>
                          <a:srgbClr val="D9D9D9"/>
                        </a:solidFill>
                        <a:latin typeface="Arial" panose="020B0604020202090204"/>
                        <a:cs typeface="Arial" panose="020B0604020202090204"/>
                      </a:endParaRPr>
                    </a:p>
                    <a:p>
                      <a:pPr marL="0" marR="0" lvl="0" indent="0" algn="l" defTabSz="114300" rtl="0" eaLnBrk="1" fontAlgn="auto" latinLnBrk="0" hangingPunct="1">
                        <a:lnSpc>
                          <a:spcPct val="100000"/>
                        </a:lnSpc>
                        <a:spcBef>
                          <a:spcPts val="0"/>
                        </a:spcBef>
                        <a:spcAft>
                          <a:spcPts val="0"/>
                        </a:spcAft>
                        <a:buClrTx/>
                        <a:buSzTx/>
                        <a:buFontTx/>
                        <a:buNone/>
                        <a:defRPr/>
                      </a:pPr>
                      <a:br>
                        <a:rPr lang="en-US" sz="2400" noProof="0" dirty="0">
                          <a:solidFill>
                            <a:srgbClr val="D9D9D9"/>
                          </a:solidFill>
                          <a:latin typeface="Arial" panose="020B0604020202090204"/>
                          <a:cs typeface="Arial" panose="020B0604020202090204"/>
                        </a:rPr>
                      </a:br>
                      <a:r>
                        <a:rPr lang="en-US" sz="2400" noProof="0" dirty="0">
                          <a:solidFill>
                            <a:srgbClr val="D9D9D9"/>
                          </a:solidFill>
                          <a:latin typeface="Arial" panose="020B0604020202090204"/>
                          <a:cs typeface="Arial" panose="020B0604020202090204"/>
                        </a:rPr>
                        <a:t>Go to </a:t>
                      </a:r>
                      <a:r>
                        <a:rPr lang="en-US" sz="2400" noProof="0" dirty="0" err="1">
                          <a:solidFill>
                            <a:srgbClr val="FFC000"/>
                          </a:solidFill>
                          <a:latin typeface="Arial" panose="020B0604020202090204"/>
                          <a:cs typeface="Arial" panose="020B0604020202090204"/>
                        </a:rPr>
                        <a:t>PosterPresentations.com</a:t>
                      </a:r>
                      <a:r>
                        <a:rPr lang="en-US" sz="2400" noProof="0" dirty="0">
                          <a:solidFill>
                            <a:srgbClr val="D9D9D9"/>
                          </a:solidFill>
                          <a:latin typeface="Arial" panose="020B0604020202090204"/>
                          <a:cs typeface="Arial" panose="020B0604020202090204"/>
                        </a:rPr>
                        <a:t> for more information.</a:t>
                      </a:r>
                      <a:endParaRPr lang="en-US" sz="2400" noProof="0" dirty="0">
                        <a:solidFill>
                          <a:srgbClr val="D9D9D9"/>
                        </a:solidFill>
                        <a:latin typeface="Arial" panose="020B0604020202090204"/>
                        <a:cs typeface="Arial" panose="020B0604020202090204"/>
                      </a:endParaRPr>
                    </a:p>
                  </a:txBody>
                  <a:tcPr marL="182880" marT="137160">
                    <a:solidFill>
                      <a:srgbClr val="010101"/>
                    </a:solidFill>
                  </a:tcPr>
                </a:tc>
                <a:tc hMerge="1">
                  <a:tcPr/>
                </a:tc>
                <a:tc hMerge="1">
                  <a:tcPr/>
                </a:tc>
              </a:tr>
              <a:tr h="1354778">
                <a:tc gridSpan="3">
                  <a:txBody>
                    <a:bodyPr/>
                    <a:lstStyle/>
                    <a:p>
                      <a:endParaRPr lang="en-US" sz="2400" dirty="0">
                        <a:solidFill>
                          <a:srgbClr val="1F3A4E"/>
                        </a:solidFill>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cPr/>
                </a:tc>
                <a:tc hMerge="1">
                  <a:tcPr/>
                </a:tc>
              </a:tr>
              <a:tr h="3212204">
                <a:tc>
                  <a:txBody>
                    <a:bodyPr/>
                    <a:lstStyle/>
                    <a:p>
                      <a:pPr>
                        <a:lnSpc>
                          <a:spcPts val="2600"/>
                        </a:lnSpc>
                      </a:pPr>
                      <a:r>
                        <a:rPr lang="en-US" sz="2000" dirty="0">
                          <a:solidFill>
                            <a:schemeClr val="bg1">
                              <a:lumMod val="85000"/>
                            </a:schemeClr>
                          </a:solidFill>
                          <a:latin typeface="Arial" panose="020B0604020202090204"/>
                          <a:cs typeface="Arial" panose="020B0604020202090204"/>
                        </a:rPr>
                        <a:t>© 2019</a:t>
                      </a:r>
                      <a:r>
                        <a:rPr lang="en-US" sz="2000" baseline="0" dirty="0">
                          <a:solidFill>
                            <a:schemeClr val="bg1">
                              <a:lumMod val="85000"/>
                            </a:schemeClr>
                          </a:solidFill>
                          <a:latin typeface="Arial" panose="020B0604020202090204"/>
                          <a:cs typeface="Arial" panose="020B0604020202090204"/>
                        </a:rPr>
                        <a:t> </a:t>
                      </a:r>
                      <a:r>
                        <a:rPr lang="en-US" sz="2000" dirty="0" err="1">
                          <a:solidFill>
                            <a:schemeClr val="bg1">
                              <a:lumMod val="85000"/>
                            </a:schemeClr>
                          </a:solidFill>
                          <a:latin typeface="Arial" panose="020B0604020202090204"/>
                          <a:cs typeface="Arial" panose="020B0604020202090204"/>
                        </a:rPr>
                        <a:t>PosterPresentations.com</a:t>
                      </a:r>
                      <a:br>
                        <a:rPr lang="en-US" sz="2000" dirty="0">
                          <a:solidFill>
                            <a:schemeClr val="bg1">
                              <a:lumMod val="85000"/>
                            </a:schemeClr>
                          </a:solidFill>
                          <a:latin typeface="Arial" panose="020B0604020202090204"/>
                          <a:cs typeface="Arial" panose="020B0604020202090204"/>
                        </a:rPr>
                      </a:br>
                      <a:r>
                        <a:rPr lang="en-US" sz="2000" dirty="0">
                          <a:solidFill>
                            <a:schemeClr val="bg1">
                              <a:lumMod val="85000"/>
                            </a:schemeClr>
                          </a:solidFill>
                          <a:latin typeface="Arial" panose="020B0604020202090204"/>
                          <a:cs typeface="Arial" panose="020B0604020202090204"/>
                        </a:rPr>
                        <a:t>2117 Fourth Street ,</a:t>
                      </a:r>
                      <a:r>
                        <a:rPr lang="en-US" sz="2000" baseline="0" dirty="0">
                          <a:solidFill>
                            <a:schemeClr val="bg1">
                              <a:lumMod val="85000"/>
                            </a:schemeClr>
                          </a:solidFill>
                          <a:latin typeface="Arial" panose="020B0604020202090204"/>
                          <a:cs typeface="Arial" panose="020B0604020202090204"/>
                        </a:rPr>
                        <a:t> STE C        </a:t>
                      </a:r>
                      <a:endParaRPr lang="en-US" sz="2000" baseline="0" dirty="0">
                        <a:solidFill>
                          <a:schemeClr val="bg1">
                            <a:lumMod val="85000"/>
                          </a:schemeClr>
                        </a:solidFill>
                        <a:latin typeface="Arial" panose="020B0604020202090204"/>
                        <a:cs typeface="Arial" panose="020B0604020202090204"/>
                      </a:endParaRPr>
                    </a:p>
                    <a:p>
                      <a:pPr>
                        <a:lnSpc>
                          <a:spcPts val="2600"/>
                        </a:lnSpc>
                      </a:pPr>
                      <a:r>
                        <a:rPr lang="en-US" sz="2000" baseline="0" dirty="0">
                          <a:solidFill>
                            <a:schemeClr val="bg1">
                              <a:lumMod val="85000"/>
                            </a:schemeClr>
                          </a:solidFill>
                          <a:latin typeface="Arial" panose="020B0604020202090204"/>
                          <a:cs typeface="Arial" panose="020B0604020202090204"/>
                        </a:rPr>
                        <a:t>Berkeley CA 94710 USA</a:t>
                      </a:r>
                      <a:endParaRPr lang="en-US" sz="2000" dirty="0">
                        <a:solidFill>
                          <a:schemeClr val="bg1">
                            <a:lumMod val="85000"/>
                          </a:schemeClr>
                        </a:solidFill>
                        <a:latin typeface="Arial" panose="020B0604020202090204"/>
                        <a:cs typeface="Arial" panose="020B0604020202090204"/>
                      </a:endParaRPr>
                    </a:p>
                  </a:txBody>
                  <a:tcPr marL="182880" marT="13716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dirty="0">
                          <a:solidFill>
                            <a:srgbClr val="D0D0D0"/>
                          </a:solidFill>
                          <a:latin typeface="Arial" panose="020B0604020202090204"/>
                          <a:cs typeface="Arial" panose="020B0604020202090204"/>
                        </a:rPr>
                        <a:t>For complete tutorials</a:t>
                      </a:r>
                      <a:r>
                        <a:rPr lang="en-US" sz="2400" b="1" baseline="0" dirty="0">
                          <a:solidFill>
                            <a:srgbClr val="D0D0D0"/>
                          </a:solidFill>
                          <a:latin typeface="Arial" panose="020B0604020202090204"/>
                          <a:cs typeface="Arial" panose="020B0604020202090204"/>
                        </a:rPr>
                        <a:t> visit:</a:t>
                      </a:r>
                      <a:endParaRPr lang="en-US" sz="2400" b="1" baseline="0" dirty="0">
                        <a:solidFill>
                          <a:srgbClr val="D0D0D0"/>
                        </a:solidFill>
                        <a:latin typeface="Arial" panose="020B0604020202090204"/>
                        <a:cs typeface="Arial" panose="020B0604020202090204"/>
                      </a:endParaRPr>
                    </a:p>
                    <a:p>
                      <a:pPr marL="0" marR="0" indent="0" algn="l" defTabSz="4389120" rtl="0" eaLnBrk="1" fontAlgn="auto" latinLnBrk="0" hangingPunct="1">
                        <a:lnSpc>
                          <a:spcPct val="100000"/>
                        </a:lnSpc>
                        <a:spcBef>
                          <a:spcPts val="0"/>
                        </a:spcBef>
                        <a:spcAft>
                          <a:spcPts val="0"/>
                        </a:spcAft>
                        <a:buClrTx/>
                        <a:buSzTx/>
                        <a:buFontTx/>
                        <a:buNone/>
                        <a:defRPr/>
                      </a:pPr>
                      <a:r>
                        <a:rPr lang="en-US" sz="1800" b="1" dirty="0">
                          <a:solidFill>
                            <a:srgbClr val="FFC000"/>
                          </a:solidFill>
                          <a:latin typeface="Arial" panose="020B0604020202090204"/>
                          <a:cs typeface="Arial" panose="020B0604020202090204"/>
                        </a:rPr>
                        <a:t>https://</a:t>
                      </a:r>
                      <a:r>
                        <a:rPr lang="en-US" sz="1800" b="1" dirty="0" err="1">
                          <a:solidFill>
                            <a:srgbClr val="FFC000"/>
                          </a:solidFill>
                          <a:latin typeface="Arial" panose="020B0604020202090204"/>
                          <a:cs typeface="Arial" panose="020B0604020202090204"/>
                        </a:rPr>
                        <a:t>www.posterpresentations.com</a:t>
                      </a:r>
                      <a:r>
                        <a:rPr lang="en-US" sz="1800" b="1" dirty="0">
                          <a:solidFill>
                            <a:srgbClr val="FFC000"/>
                          </a:solidFill>
                          <a:latin typeface="Arial" panose="020B0604020202090204"/>
                          <a:cs typeface="Arial" panose="020B0604020202090204"/>
                        </a:rPr>
                        <a:t>/</a:t>
                      </a:r>
                      <a:r>
                        <a:rPr lang="en-US" sz="1800" b="1" dirty="0" err="1">
                          <a:solidFill>
                            <a:srgbClr val="FFC000"/>
                          </a:solidFill>
                          <a:latin typeface="Arial" panose="020B0604020202090204"/>
                          <a:cs typeface="Arial" panose="020B0604020202090204"/>
                        </a:rPr>
                        <a:t>helpdesk.html</a:t>
                      </a:r>
                      <a:endParaRPr lang="en-US" sz="1800" dirty="0">
                        <a:solidFill>
                          <a:schemeClr val="bg1">
                            <a:lumMod val="85000"/>
                          </a:schemeClr>
                        </a:solidFill>
                        <a:latin typeface="Arial" panose="020B0604020202090204"/>
                        <a:cs typeface="Arial" panose="020B0604020202090204"/>
                      </a:endParaRPr>
                    </a:p>
                  </a:txBody>
                  <a:tcPr marL="182880" marT="137160">
                    <a:solidFill>
                      <a:srgbClr val="010101"/>
                    </a:solidFill>
                  </a:tcPr>
                </a:tc>
                <a:tc hMerge="1">
                  <a:tcPr/>
                </a:tc>
              </a:tr>
            </a:tbl>
          </a:graphicData>
        </a:graphic>
      </p:graphicFrame>
      <p:sp>
        <p:nvSpPr>
          <p:cNvPr id="35" name="Text Box 14"/>
          <p:cNvSpPr txBox="1">
            <a:spLocks noChangeArrowheads="1"/>
          </p:cNvSpPr>
          <p:nvPr userDrawn="1"/>
        </p:nvSpPr>
        <p:spPr bwMode="auto">
          <a:xfrm>
            <a:off x="1128393" y="31971938"/>
            <a:ext cx="2514600" cy="336819"/>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90204" pitchFamily="34" charset="0"/>
              </a:rPr>
              <a:t>RESEARCH POSTER PRESENTATION DESIGN © 2015</a:t>
            </a:r>
            <a:endParaRPr lang="en-US" sz="500" b="1" dirty="0">
              <a:solidFill>
                <a:schemeClr val="bg1">
                  <a:lumMod val="75000"/>
                </a:schemeClr>
              </a:solidFill>
              <a:latin typeface="Arial" panose="020B060402020209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604020202090204" pitchFamily="34" charset="0"/>
              </a:rPr>
              <a:t>www.PosterPresentations.com</a:t>
            </a:r>
            <a:endParaRPr lang="en-US" sz="1100" b="1" dirty="0">
              <a:solidFill>
                <a:schemeClr val="bg1">
                  <a:lumMod val="75000"/>
                </a:schemeClr>
              </a:solidFill>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120" rtl="0" eaLnBrk="1" latinLnBrk="0" hangingPunct="1">
        <a:spcBef>
          <a:spcPct val="0"/>
        </a:spcBef>
        <a:buNone/>
        <a:defRPr sz="8800" kern="1200">
          <a:solidFill>
            <a:schemeClr val="bg1"/>
          </a:solidFill>
          <a:latin typeface="Trebuchet MS" panose="020B0603020202020204" pitchFamily="34" charset="0"/>
          <a:ea typeface="+mj-ea"/>
          <a:cs typeface="+mj-cs"/>
        </a:defRPr>
      </a:lvl1pPr>
    </p:titleStyle>
    <p:bodyStyle>
      <a:lvl1pPr marL="1645920" indent="-1645920" algn="l" defTabSz="4389120" rtl="0" eaLnBrk="1" latinLnBrk="0" hangingPunct="1">
        <a:spcBef>
          <a:spcPct val="20000"/>
        </a:spcBef>
        <a:buFont typeface="Arial" panose="020B060402020209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rot="10800000">
            <a:off x="0" y="31365486"/>
            <a:ext cx="43891200" cy="1549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0" y="1"/>
            <a:ext cx="43891200" cy="449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14"/>
          <p:cNvSpPr txBox="1">
            <a:spLocks noChangeArrowheads="1"/>
          </p:cNvSpPr>
          <p:nvPr userDrawn="1"/>
        </p:nvSpPr>
        <p:spPr bwMode="auto">
          <a:xfrm>
            <a:off x="1128393" y="31971938"/>
            <a:ext cx="2514600" cy="336819"/>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90204" pitchFamily="34" charset="0"/>
              </a:rPr>
              <a:t>RESEARCH POSTER PRESENTATION DESIGN © 2015</a:t>
            </a:r>
            <a:endParaRPr lang="en-US" sz="500" b="1" dirty="0">
              <a:solidFill>
                <a:schemeClr val="bg1">
                  <a:lumMod val="75000"/>
                </a:schemeClr>
              </a:solidFill>
              <a:latin typeface="Arial" panose="020B060402020209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604020202090204" pitchFamily="34" charset="0"/>
              </a:rPr>
              <a:t>www.PosterPresentations.com</a:t>
            </a:r>
            <a:endParaRPr lang="en-US" sz="1100" b="1" dirty="0">
              <a:solidFill>
                <a:schemeClr val="bg1">
                  <a:lumMod val="75000"/>
                </a:schemeClr>
              </a:solidFill>
              <a:latin typeface="Arial" panose="020B0604020202090204" pitchFamily="34" charset="0"/>
            </a:endParaRPr>
          </a:p>
        </p:txBody>
      </p:sp>
      <p:sp>
        <p:nvSpPr>
          <p:cNvPr id="8" name="Text Placeholder 3"/>
          <p:cNvSpPr txBox="1"/>
          <p:nvPr userDrawn="1"/>
        </p:nvSpPr>
        <p:spPr>
          <a:xfrm>
            <a:off x="459674" y="6378481"/>
            <a:ext cx="10056813"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9" name="Text Placeholder 5"/>
          <p:cNvSpPr txBox="1"/>
          <p:nvPr userDrawn="1"/>
        </p:nvSpPr>
        <p:spPr>
          <a:xfrm>
            <a:off x="477827" y="5548749"/>
            <a:ext cx="10048875" cy="754045"/>
          </a:xfrm>
          <a:prstGeom prst="rect">
            <a:avLst/>
          </a:prstGeom>
          <a:noFill/>
        </p:spPr>
        <p:txBody>
          <a:bodyPr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INTRODUCTION or ABSTRACT</a:t>
            </a:r>
            <a:endParaRPr lang="en-US" dirty="0"/>
          </a:p>
        </p:txBody>
      </p:sp>
      <p:sp>
        <p:nvSpPr>
          <p:cNvPr id="11" name="Text Placeholder 5"/>
          <p:cNvSpPr txBox="1"/>
          <p:nvPr userDrawn="1"/>
        </p:nvSpPr>
        <p:spPr>
          <a:xfrm>
            <a:off x="477825" y="14212513"/>
            <a:ext cx="10050462" cy="754045"/>
          </a:xfrm>
          <a:prstGeom prst="rect">
            <a:avLst/>
          </a:prstGeom>
          <a:noFill/>
        </p:spPr>
        <p:txBody>
          <a:bodyPr wrap="square"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OBJECTIVES</a:t>
            </a:r>
            <a:endParaRPr lang="en-US" dirty="0"/>
          </a:p>
        </p:txBody>
      </p:sp>
      <p:sp>
        <p:nvSpPr>
          <p:cNvPr id="12" name="Text Placeholder 3"/>
          <p:cNvSpPr txBox="1"/>
          <p:nvPr userDrawn="1"/>
        </p:nvSpPr>
        <p:spPr>
          <a:xfrm>
            <a:off x="11460161" y="6378481"/>
            <a:ext cx="10048874"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3" name="Text Placeholder 5"/>
          <p:cNvSpPr txBox="1"/>
          <p:nvPr userDrawn="1"/>
        </p:nvSpPr>
        <p:spPr>
          <a:xfrm>
            <a:off x="11460162" y="5548749"/>
            <a:ext cx="10048875" cy="754045"/>
          </a:xfrm>
          <a:prstGeom prst="rect">
            <a:avLst/>
          </a:prstGeom>
          <a:noFill/>
        </p:spPr>
        <p:txBody>
          <a:bodyPr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MATERIALS &amp; METHODS</a:t>
            </a:r>
            <a:endParaRPr lang="en-US" dirty="0"/>
          </a:p>
        </p:txBody>
      </p:sp>
      <p:sp>
        <p:nvSpPr>
          <p:cNvPr id="14" name="Text Placeholder 3"/>
          <p:cNvSpPr txBox="1"/>
          <p:nvPr userDrawn="1"/>
        </p:nvSpPr>
        <p:spPr>
          <a:xfrm>
            <a:off x="22385343" y="6378481"/>
            <a:ext cx="10048874"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5" name="Text Placeholder 5"/>
          <p:cNvSpPr txBox="1"/>
          <p:nvPr userDrawn="1"/>
        </p:nvSpPr>
        <p:spPr>
          <a:xfrm>
            <a:off x="22377404" y="5548749"/>
            <a:ext cx="10058400" cy="754045"/>
          </a:xfrm>
          <a:prstGeom prst="rect">
            <a:avLst/>
          </a:prstGeom>
          <a:noFill/>
        </p:spPr>
        <p:txBody>
          <a:bodyPr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RESULTS</a:t>
            </a:r>
            <a:endParaRPr lang="en-US" dirty="0"/>
          </a:p>
        </p:txBody>
      </p:sp>
      <p:sp>
        <p:nvSpPr>
          <p:cNvPr id="16" name="Text Placeholder 5"/>
          <p:cNvSpPr txBox="1"/>
          <p:nvPr userDrawn="1"/>
        </p:nvSpPr>
        <p:spPr>
          <a:xfrm>
            <a:off x="33390292" y="5548749"/>
            <a:ext cx="10047018" cy="754045"/>
          </a:xfrm>
          <a:prstGeom prst="rect">
            <a:avLst/>
          </a:prstGeom>
          <a:noFill/>
        </p:spPr>
        <p:txBody>
          <a:bodyPr wrap="square"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CONCLUSIONS</a:t>
            </a:r>
            <a:endParaRPr lang="en-US" dirty="0"/>
          </a:p>
        </p:txBody>
      </p:sp>
      <p:sp>
        <p:nvSpPr>
          <p:cNvPr id="17" name="Text Placeholder 3"/>
          <p:cNvSpPr txBox="1"/>
          <p:nvPr userDrawn="1"/>
        </p:nvSpPr>
        <p:spPr>
          <a:xfrm>
            <a:off x="33390292" y="6378481"/>
            <a:ext cx="10047018"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8" name="Text Placeholder 5"/>
          <p:cNvSpPr txBox="1"/>
          <p:nvPr userDrawn="1"/>
        </p:nvSpPr>
        <p:spPr>
          <a:xfrm>
            <a:off x="33390292" y="14272738"/>
            <a:ext cx="10047018" cy="754045"/>
          </a:xfrm>
          <a:prstGeom prst="rect">
            <a:avLst/>
          </a:prstGeom>
          <a:noFill/>
        </p:spPr>
        <p:txBody>
          <a:bodyPr wrap="square"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REFERENCES</a:t>
            </a:r>
            <a:endParaRPr lang="en-US" dirty="0"/>
          </a:p>
        </p:txBody>
      </p:sp>
      <p:sp>
        <p:nvSpPr>
          <p:cNvPr id="19" name="Text Placeholder 3"/>
          <p:cNvSpPr txBox="1"/>
          <p:nvPr userDrawn="1"/>
        </p:nvSpPr>
        <p:spPr>
          <a:xfrm>
            <a:off x="33390292" y="15011402"/>
            <a:ext cx="10052050"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0" name="Text Placeholder 5"/>
          <p:cNvSpPr txBox="1"/>
          <p:nvPr userDrawn="1"/>
        </p:nvSpPr>
        <p:spPr>
          <a:xfrm>
            <a:off x="33390292" y="25679401"/>
            <a:ext cx="10047018" cy="754045"/>
          </a:xfrm>
          <a:prstGeom prst="rect">
            <a:avLst/>
          </a:prstGeom>
          <a:noFill/>
        </p:spPr>
        <p:txBody>
          <a:bodyPr wrap="square"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to edit)  ACKNOWLEDGEMENTS or  CONTACT</a:t>
            </a:r>
            <a:endParaRPr lang="en-US" dirty="0"/>
          </a:p>
        </p:txBody>
      </p:sp>
      <p:sp>
        <p:nvSpPr>
          <p:cNvPr id="21" name="Text Placeholder 3"/>
          <p:cNvSpPr txBox="1"/>
          <p:nvPr userDrawn="1"/>
        </p:nvSpPr>
        <p:spPr>
          <a:xfrm>
            <a:off x="33390292" y="26433446"/>
            <a:ext cx="10052050"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2" name="Text Placeholder 3"/>
          <p:cNvSpPr txBox="1"/>
          <p:nvPr userDrawn="1"/>
        </p:nvSpPr>
        <p:spPr>
          <a:xfrm>
            <a:off x="459674" y="14951552"/>
            <a:ext cx="10056813" cy="846363"/>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3" name="Text Placeholder 76"/>
          <p:cNvSpPr txBox="1"/>
          <p:nvPr userDrawn="1"/>
        </p:nvSpPr>
        <p:spPr>
          <a:xfrm>
            <a:off x="5932593" y="3127915"/>
            <a:ext cx="31998968" cy="1280160"/>
          </a:xfrm>
          <a:prstGeom prst="rect">
            <a:avLst/>
          </a:prstGeom>
        </p:spPr>
        <p:txBody>
          <a:bodyPr>
            <a:normAutofit/>
          </a:bodyPr>
          <a:lstStyle>
            <a:lvl1pPr marL="0" indent="0" algn="ctr" defTabSz="4389120" rtl="0" eaLnBrk="1" latinLnBrk="0" hangingPunct="1">
              <a:spcBef>
                <a:spcPct val="20000"/>
              </a:spcBef>
              <a:buFontTx/>
              <a:buNone/>
              <a:defRPr sz="5400" kern="1200">
                <a:solidFill>
                  <a:schemeClr val="bg1"/>
                </a:solidFill>
                <a:latin typeface="+mj-lt"/>
                <a:ea typeface="+mn-ea"/>
                <a:cs typeface="+mn-cs"/>
              </a:defRPr>
            </a:lvl1pPr>
            <a:lvl2pPr marL="3566160" indent="-1371600" algn="l" defTabSz="4389120" rtl="0" eaLnBrk="1" latinLnBrk="0" hangingPunct="1">
              <a:spcBef>
                <a:spcPct val="20000"/>
              </a:spcBef>
              <a:buFontTx/>
              <a:buNone/>
              <a:defRPr sz="7200" kern="1200">
                <a:solidFill>
                  <a:schemeClr val="tx1"/>
                </a:solidFill>
                <a:latin typeface="+mn-lt"/>
                <a:ea typeface="+mn-ea"/>
                <a:cs typeface="+mn-cs"/>
              </a:defRPr>
            </a:lvl2pPr>
            <a:lvl3pPr marL="5486400" indent="-1097280" algn="l" defTabSz="4389120" rtl="0" eaLnBrk="1" latinLnBrk="0" hangingPunct="1">
              <a:spcBef>
                <a:spcPct val="20000"/>
              </a:spcBef>
              <a:buFontTx/>
              <a:buNone/>
              <a:defRPr sz="7200" kern="1200">
                <a:solidFill>
                  <a:schemeClr val="tx1"/>
                </a:solidFill>
                <a:latin typeface="+mn-lt"/>
                <a:ea typeface="+mn-ea"/>
                <a:cs typeface="+mn-cs"/>
              </a:defRPr>
            </a:lvl3pPr>
            <a:lvl4pPr marL="7680325" indent="-1097280" algn="l" defTabSz="4389120" rtl="0" eaLnBrk="1" latinLnBrk="0" hangingPunct="1">
              <a:spcBef>
                <a:spcPct val="20000"/>
              </a:spcBef>
              <a:buFontTx/>
              <a:buNone/>
              <a:defRPr sz="7200" kern="1200">
                <a:solidFill>
                  <a:schemeClr val="tx1"/>
                </a:solidFill>
                <a:latin typeface="+mn-lt"/>
                <a:ea typeface="+mn-ea"/>
                <a:cs typeface="+mn-cs"/>
              </a:defRPr>
            </a:lvl4pPr>
            <a:lvl5pPr marL="9874885" indent="-1097280" algn="l" defTabSz="4389120" rtl="0" eaLnBrk="1" latinLnBrk="0" hangingPunct="1">
              <a:spcBef>
                <a:spcPct val="20000"/>
              </a:spcBef>
              <a:buFontTx/>
              <a:buNone/>
              <a:defRPr sz="72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here to add affiliations</a:t>
            </a:r>
            <a:endParaRPr lang="en-US" dirty="0"/>
          </a:p>
        </p:txBody>
      </p:sp>
      <p:sp>
        <p:nvSpPr>
          <p:cNvPr id="24" name="Text Placeholder 76"/>
          <p:cNvSpPr txBox="1"/>
          <p:nvPr userDrawn="1"/>
        </p:nvSpPr>
        <p:spPr>
          <a:xfrm>
            <a:off x="5932593" y="1847755"/>
            <a:ext cx="31998968" cy="1280160"/>
          </a:xfrm>
          <a:prstGeom prst="rect">
            <a:avLst/>
          </a:prstGeom>
        </p:spPr>
        <p:txBody>
          <a:bodyPr anchor="t" anchorCtr="1">
            <a:normAutofit lnSpcReduction="10000"/>
          </a:bodyPr>
          <a:lstStyle>
            <a:lvl1pPr marL="0" indent="0" algn="ctr" defTabSz="4389120" rtl="0" eaLnBrk="1" latinLnBrk="0" hangingPunct="1">
              <a:spcBef>
                <a:spcPct val="20000"/>
              </a:spcBef>
              <a:buFontTx/>
              <a:buNone/>
              <a:defRPr sz="8000" kern="1200">
                <a:solidFill>
                  <a:schemeClr val="bg1"/>
                </a:solidFill>
                <a:latin typeface="+mj-lt"/>
                <a:ea typeface="+mn-ea"/>
                <a:cs typeface="+mn-cs"/>
              </a:defRPr>
            </a:lvl1pPr>
            <a:lvl2pPr marL="3566160" indent="-1371600" algn="l" defTabSz="4389120" rtl="0" eaLnBrk="1" latinLnBrk="0" hangingPunct="1">
              <a:spcBef>
                <a:spcPct val="20000"/>
              </a:spcBef>
              <a:buFontTx/>
              <a:buNone/>
              <a:defRPr sz="7200" kern="1200">
                <a:solidFill>
                  <a:schemeClr val="tx1"/>
                </a:solidFill>
                <a:latin typeface="+mn-lt"/>
                <a:ea typeface="+mn-ea"/>
                <a:cs typeface="+mn-cs"/>
              </a:defRPr>
            </a:lvl2pPr>
            <a:lvl3pPr marL="5486400" indent="-1097280" algn="l" defTabSz="4389120" rtl="0" eaLnBrk="1" latinLnBrk="0" hangingPunct="1">
              <a:spcBef>
                <a:spcPct val="20000"/>
              </a:spcBef>
              <a:buFontTx/>
              <a:buNone/>
              <a:defRPr sz="7200" kern="1200">
                <a:solidFill>
                  <a:schemeClr val="tx1"/>
                </a:solidFill>
                <a:latin typeface="+mn-lt"/>
                <a:ea typeface="+mn-ea"/>
                <a:cs typeface="+mn-cs"/>
              </a:defRPr>
            </a:lvl3pPr>
            <a:lvl4pPr marL="7680325" indent="-1097280" algn="l" defTabSz="4389120" rtl="0" eaLnBrk="1" latinLnBrk="0" hangingPunct="1">
              <a:spcBef>
                <a:spcPct val="20000"/>
              </a:spcBef>
              <a:buFontTx/>
              <a:buNone/>
              <a:defRPr sz="7200" kern="1200">
                <a:solidFill>
                  <a:schemeClr val="tx1"/>
                </a:solidFill>
                <a:latin typeface="+mn-lt"/>
                <a:ea typeface="+mn-ea"/>
                <a:cs typeface="+mn-cs"/>
              </a:defRPr>
            </a:lvl4pPr>
            <a:lvl5pPr marL="9874885" indent="-1097280" algn="l" defTabSz="4389120" rtl="0" eaLnBrk="1" latinLnBrk="0" hangingPunct="1">
              <a:spcBef>
                <a:spcPct val="20000"/>
              </a:spcBef>
              <a:buFontTx/>
              <a:buNone/>
              <a:defRPr sz="72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here to add authors</a:t>
            </a:r>
            <a:endParaRPr lang="en-US" dirty="0"/>
          </a:p>
        </p:txBody>
      </p:sp>
      <p:sp>
        <p:nvSpPr>
          <p:cNvPr id="25" name="Text Placeholder 76"/>
          <p:cNvSpPr txBox="1"/>
          <p:nvPr userDrawn="1"/>
        </p:nvSpPr>
        <p:spPr>
          <a:xfrm>
            <a:off x="5932593" y="209781"/>
            <a:ext cx="31998968" cy="1637973"/>
          </a:xfrm>
          <a:prstGeom prst="rect">
            <a:avLst/>
          </a:prstGeom>
        </p:spPr>
        <p:txBody>
          <a:bodyPr anchor="t" anchorCtr="1">
            <a:normAutofit/>
          </a:bodyPr>
          <a:lstStyle>
            <a:lvl1pPr marL="0" indent="0" algn="ctr" defTabSz="4389120" rtl="0" eaLnBrk="1" latinLnBrk="0" hangingPunct="1">
              <a:spcBef>
                <a:spcPct val="20000"/>
              </a:spcBef>
              <a:buFontTx/>
              <a:buNone/>
              <a:defRPr sz="9600" b="1" kern="1200">
                <a:solidFill>
                  <a:schemeClr val="bg1"/>
                </a:solidFill>
                <a:latin typeface="+mj-lt"/>
                <a:ea typeface="+mn-ea"/>
                <a:cs typeface="+mn-cs"/>
              </a:defRPr>
            </a:lvl1pPr>
            <a:lvl2pPr marL="3566160" indent="-1371600" algn="l" defTabSz="4389120" rtl="0" eaLnBrk="1" latinLnBrk="0" hangingPunct="1">
              <a:spcBef>
                <a:spcPct val="20000"/>
              </a:spcBef>
              <a:buFontTx/>
              <a:buNone/>
              <a:defRPr sz="7200" kern="1200">
                <a:solidFill>
                  <a:schemeClr val="tx1"/>
                </a:solidFill>
                <a:latin typeface="+mn-lt"/>
                <a:ea typeface="+mn-ea"/>
                <a:cs typeface="+mn-cs"/>
              </a:defRPr>
            </a:lvl2pPr>
            <a:lvl3pPr marL="5486400" indent="-1097280" algn="l" defTabSz="4389120" rtl="0" eaLnBrk="1" latinLnBrk="0" hangingPunct="1">
              <a:spcBef>
                <a:spcPct val="20000"/>
              </a:spcBef>
              <a:buFontTx/>
              <a:buNone/>
              <a:defRPr sz="7200" kern="1200">
                <a:solidFill>
                  <a:schemeClr val="tx1"/>
                </a:solidFill>
                <a:latin typeface="+mn-lt"/>
                <a:ea typeface="+mn-ea"/>
                <a:cs typeface="+mn-cs"/>
              </a:defRPr>
            </a:lvl3pPr>
            <a:lvl4pPr marL="7680325" indent="-1097280" algn="l" defTabSz="4389120" rtl="0" eaLnBrk="1" latinLnBrk="0" hangingPunct="1">
              <a:spcBef>
                <a:spcPct val="20000"/>
              </a:spcBef>
              <a:buFontTx/>
              <a:buNone/>
              <a:defRPr sz="7200" kern="1200">
                <a:solidFill>
                  <a:schemeClr val="tx1"/>
                </a:solidFill>
                <a:latin typeface="+mn-lt"/>
                <a:ea typeface="+mn-ea"/>
                <a:cs typeface="+mn-cs"/>
              </a:defRPr>
            </a:lvl4pPr>
            <a:lvl5pPr marL="9874885" indent="-1097280" algn="l" defTabSz="4389120" rtl="0" eaLnBrk="1" latinLnBrk="0" hangingPunct="1">
              <a:spcBef>
                <a:spcPct val="20000"/>
              </a:spcBef>
              <a:buFontTx/>
              <a:buNone/>
              <a:defRPr sz="72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t>Click here to add title</a:t>
            </a:r>
            <a:endParaRPr lang="en-US" dirty="0"/>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4389120" rtl="0" eaLnBrk="1" latinLnBrk="0" hangingPunct="1">
        <a:spcBef>
          <a:spcPct val="0"/>
        </a:spcBef>
        <a:buNone/>
        <a:defRPr sz="8800" kern="1200">
          <a:solidFill>
            <a:schemeClr val="bg1"/>
          </a:solidFill>
          <a:latin typeface="Trebuchet MS" panose="020B0603020202020204" pitchFamily="34" charset="0"/>
          <a:ea typeface="+mj-ea"/>
          <a:cs typeface="+mj-cs"/>
        </a:defRPr>
      </a:lvl1pPr>
    </p:titleStyle>
    <p:bodyStyle>
      <a:lvl1pPr marL="1645920" indent="-1645920" algn="l" defTabSz="4389120" rtl="0" eaLnBrk="1" latinLnBrk="0" hangingPunct="1">
        <a:spcBef>
          <a:spcPct val="20000"/>
        </a:spcBef>
        <a:buFont typeface="Arial" panose="020B060402020209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xml"/><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3789" y="6368956"/>
            <a:ext cx="10056813" cy="6550025"/>
          </a:xfrm>
        </p:spPr>
        <p:txBody>
          <a:bodyPr/>
          <a:lstStyle/>
          <a:p>
            <a:r>
              <a:rPr lang="en-US" altLang="zh-CN" sz="4400"/>
              <a:t>This study examined abnormal cholesterol among U.S. young adults aged 18–26 using NHANES 2021–2023 data. Abnormal cholesterol was defined as high total cholesterol, low HDL-C, or high non-HDL-C. Survey-weighted analyses estimated prevalence by sex and weight status and explored associations with behavioral factors.</a:t>
            </a:r>
            <a:endParaRPr lang="en-US" altLang="zh-CN" sz="4400"/>
          </a:p>
        </p:txBody>
      </p:sp>
      <p:sp>
        <p:nvSpPr>
          <p:cNvPr id="3" name="Text Placeholder 2"/>
          <p:cNvSpPr>
            <a:spLocks noGrp="1"/>
          </p:cNvSpPr>
          <p:nvPr>
            <p:ph type="body" sz="quarter" idx="11"/>
          </p:nvPr>
        </p:nvSpPr>
        <p:spPr>
          <a:xfrm>
            <a:off x="538152" y="4836747"/>
            <a:ext cx="10048875" cy="1289050"/>
          </a:xfrm>
        </p:spPr>
        <p:txBody>
          <a:bodyPr/>
          <a:lstStyle/>
          <a:p>
            <a:r>
              <a:rPr lang="en-US" sz="7200"/>
              <a:t>Abstract</a:t>
            </a:r>
            <a:endParaRPr lang="en-US" sz="7200"/>
          </a:p>
        </p:txBody>
      </p:sp>
      <p:sp>
        <p:nvSpPr>
          <p:cNvPr id="4" name="Text Placeholder 3"/>
          <p:cNvSpPr>
            <a:spLocks noGrp="1"/>
          </p:cNvSpPr>
          <p:nvPr>
            <p:ph type="body" sz="quarter" idx="20"/>
          </p:nvPr>
        </p:nvSpPr>
        <p:spPr>
          <a:xfrm>
            <a:off x="425120" y="13162056"/>
            <a:ext cx="10050462" cy="1289050"/>
          </a:xfrm>
        </p:spPr>
        <p:txBody>
          <a:bodyPr/>
          <a:lstStyle/>
          <a:p>
            <a:r>
              <a:rPr lang="en-US" altLang="zh-CN" sz="7200"/>
              <a:t>Objectives</a:t>
            </a:r>
            <a:endParaRPr lang="en-US" altLang="zh-CN" sz="7200"/>
          </a:p>
        </p:txBody>
      </p:sp>
      <p:sp>
        <p:nvSpPr>
          <p:cNvPr id="5" name="Text Placeholder 4"/>
          <p:cNvSpPr>
            <a:spLocks noGrp="1"/>
          </p:cNvSpPr>
          <p:nvPr>
            <p:ph type="body" sz="quarter" idx="21"/>
          </p:nvPr>
        </p:nvSpPr>
        <p:spPr>
          <a:xfrm>
            <a:off x="538161" y="22346826"/>
            <a:ext cx="10048874" cy="7226935"/>
          </a:xfrm>
        </p:spPr>
        <p:txBody>
          <a:bodyPr/>
          <a:lstStyle/>
          <a:p>
            <a:r>
              <a:rPr lang="en-US" altLang="zh-CN" sz="4400"/>
              <a:t>Data came from NHANES August 2021–August 2023. The analytic sample was restricted to participants aged 18–26 with available cholesterol measurements. Non-HDL-C was calculated as total cholesterol minus HDL-C. Survey-weighted prevalence estimates and logistic regression models were used. Adjusted models included age, sex, race/ethnicity, and body weight status.</a:t>
            </a:r>
            <a:endParaRPr lang="en-US" altLang="zh-CN" sz="4400"/>
          </a:p>
        </p:txBody>
      </p:sp>
      <p:sp>
        <p:nvSpPr>
          <p:cNvPr id="6" name="Text Placeholder 5"/>
          <p:cNvSpPr>
            <a:spLocks noGrp="1"/>
          </p:cNvSpPr>
          <p:nvPr>
            <p:ph type="body" sz="quarter" idx="22"/>
          </p:nvPr>
        </p:nvSpPr>
        <p:spPr>
          <a:xfrm>
            <a:off x="426402" y="20716827"/>
            <a:ext cx="10048875" cy="1289050"/>
          </a:xfrm>
        </p:spPr>
        <p:txBody>
          <a:bodyPr/>
          <a:lstStyle/>
          <a:p>
            <a:r>
              <a:rPr lang="en-US" altLang="zh-CN" sz="7200"/>
              <a:t>Methods</a:t>
            </a:r>
            <a:endParaRPr lang="en-US" altLang="zh-CN" sz="7200"/>
          </a:p>
        </p:txBody>
      </p:sp>
      <p:sp>
        <p:nvSpPr>
          <p:cNvPr id="7" name="Text Placeholder 6"/>
          <p:cNvSpPr>
            <a:spLocks noGrp="1"/>
          </p:cNvSpPr>
          <p:nvPr>
            <p:ph type="body" sz="quarter" idx="23"/>
          </p:nvPr>
        </p:nvSpPr>
        <p:spPr>
          <a:xfrm>
            <a:off x="11237283" y="6695346"/>
            <a:ext cx="10048874" cy="6007735"/>
          </a:xfrm>
        </p:spPr>
        <p:txBody>
          <a:bodyPr/>
          <a:lstStyle/>
          <a:p>
            <a:r>
              <a:rPr lang="en-US" altLang="zh-CN" sz="4400"/>
              <a:t>Overall abnormal cholesterol prevalence was approximately 29.8%. Males had higher prevalence than females. Prevalence was highest among participants with obesity and lowest among those with underweight or normal weight.</a:t>
            </a:r>
            <a:endParaRPr lang="en-US" altLang="zh-CN" sz="4400"/>
          </a:p>
          <a:p>
            <a:endParaRPr lang="en-US" altLang="zh-CN" sz="4400"/>
          </a:p>
        </p:txBody>
      </p:sp>
      <p:sp>
        <p:nvSpPr>
          <p:cNvPr id="8" name="Text Placeholder 7"/>
          <p:cNvSpPr>
            <a:spLocks noGrp="1"/>
          </p:cNvSpPr>
          <p:nvPr>
            <p:ph type="body" sz="quarter" idx="24"/>
          </p:nvPr>
        </p:nvSpPr>
        <p:spPr>
          <a:xfrm>
            <a:off x="22103719" y="5079634"/>
            <a:ext cx="10058400" cy="2397125"/>
          </a:xfrm>
        </p:spPr>
        <p:txBody>
          <a:bodyPr/>
          <a:lstStyle/>
          <a:p>
            <a:r>
              <a:rPr lang="en-US" altLang="zh-CN" sz="7200"/>
              <a:t>Results2: Behavioral Factors</a:t>
            </a:r>
            <a:endParaRPr lang="en-US" altLang="zh-CN" sz="7200"/>
          </a:p>
        </p:txBody>
      </p:sp>
      <p:sp>
        <p:nvSpPr>
          <p:cNvPr id="9" name="Text Placeholder 8"/>
          <p:cNvSpPr>
            <a:spLocks noGrp="1"/>
          </p:cNvSpPr>
          <p:nvPr>
            <p:ph type="body" sz="quarter" idx="25"/>
          </p:nvPr>
        </p:nvSpPr>
        <p:spPr>
          <a:xfrm>
            <a:off x="33293137" y="13119687"/>
            <a:ext cx="10047018" cy="1289050"/>
          </a:xfrm>
        </p:spPr>
        <p:txBody>
          <a:bodyPr/>
          <a:lstStyle/>
          <a:p>
            <a:r>
              <a:rPr lang="en-US" altLang="zh-CN" sz="7200"/>
              <a:t>Conclusion</a:t>
            </a:r>
            <a:endParaRPr lang="en-US" altLang="zh-CN" sz="7200"/>
          </a:p>
        </p:txBody>
      </p:sp>
      <p:sp>
        <p:nvSpPr>
          <p:cNvPr id="10" name="Text Placeholder 9"/>
          <p:cNvSpPr>
            <a:spLocks noGrp="1"/>
          </p:cNvSpPr>
          <p:nvPr>
            <p:ph type="body" sz="quarter" idx="26"/>
          </p:nvPr>
        </p:nvSpPr>
        <p:spPr>
          <a:xfrm>
            <a:off x="33550947" y="14717936"/>
            <a:ext cx="10047018" cy="5872480"/>
          </a:xfrm>
        </p:spPr>
        <p:txBody>
          <a:bodyPr/>
          <a:lstStyle/>
          <a:p>
            <a:r>
              <a:rPr lang="en-US" altLang="zh-CN" sz="4400"/>
              <a:t>Abnormal cholesterol was common among U.S. young adults aged 18–26. Males and participants with obesity showed higher risk. Behavioral factors were not statistically significant in adjusted models, but lower physical activity may warrant further investigation in larger samples.</a:t>
            </a:r>
            <a:endParaRPr lang="en-US" altLang="zh-CN" sz="4400"/>
          </a:p>
        </p:txBody>
      </p:sp>
      <p:sp>
        <p:nvSpPr>
          <p:cNvPr id="11" name="Text Placeholder 10"/>
          <p:cNvSpPr>
            <a:spLocks noGrp="1"/>
          </p:cNvSpPr>
          <p:nvPr>
            <p:ph type="body" sz="quarter" idx="27"/>
          </p:nvPr>
        </p:nvSpPr>
        <p:spPr>
          <a:xfrm>
            <a:off x="33581427" y="21415051"/>
            <a:ext cx="10047018" cy="750570"/>
          </a:xfrm>
        </p:spPr>
        <p:txBody>
          <a:bodyPr/>
          <a:lstStyle/>
          <a:p>
            <a:r>
              <a:rPr lang="en-US"/>
              <a:t>References</a:t>
            </a:r>
            <a:endParaRPr lang="en-US"/>
          </a:p>
        </p:txBody>
      </p:sp>
      <p:sp>
        <p:nvSpPr>
          <p:cNvPr id="12" name="Text Placeholder 11"/>
          <p:cNvSpPr>
            <a:spLocks noGrp="1"/>
          </p:cNvSpPr>
          <p:nvPr>
            <p:ph type="body" sz="quarter" idx="28"/>
          </p:nvPr>
        </p:nvSpPr>
        <p:spPr>
          <a:xfrm>
            <a:off x="33326157" y="22585047"/>
            <a:ext cx="10052050" cy="5842000"/>
          </a:xfrm>
        </p:spPr>
        <p:txBody>
          <a:bodyPr/>
          <a:lstStyle/>
          <a:p>
            <a:r>
              <a:rPr lang="en-US" altLang="zh-CN"/>
              <a:t>1. Terry, A., et al. (2024). Plan and Operations of NHANES, August 2021–August 2023. Vital Health Stat 1(66). DOI: 10.15620/cdc/151927.</a:t>
            </a:r>
            <a:endParaRPr lang="en-US" altLang="zh-CN"/>
          </a:p>
          <a:p>
            <a:r>
              <a:rPr lang="en-US" altLang="zh-CN"/>
              <a:t>2. National Center for Health Statistics. (2024). NHANES 2021–2023 Data Documentation: Cholesterol–Total (TCHOL_L).</a:t>
            </a:r>
            <a:endParaRPr lang="en-US" altLang="zh-CN"/>
          </a:p>
          <a:p>
            <a:r>
              <a:rPr lang="en-US" altLang="zh-CN"/>
              <a:t>3. Noiman, A., et al. (2026). Abnormal Cholesterol in Children and Adolescents: United States, August 2021–August 2023. NCHS Data Brief No. 552. DOI: 10.15620/cdc/174648.</a:t>
            </a:r>
            <a:endParaRPr lang="en-US" altLang="zh-CN"/>
          </a:p>
          <a:p>
            <a:r>
              <a:rPr lang="en-US" altLang="zh-CN"/>
              <a:t>4. Centers for Disease Control and Prevention. (2024). Adult BMI Categories.</a:t>
            </a:r>
            <a:endParaRPr lang="en-US" altLang="zh-CN"/>
          </a:p>
          <a:p>
            <a:r>
              <a:rPr lang="en-US" altLang="zh-CN"/>
              <a:t>5. Zou, Y., et al. (2026). Logistic regression model using LDL-C and age in NHANES data. Medicine, 105(4):e46939.</a:t>
            </a:r>
            <a:endParaRPr lang="en-US" altLang="zh-CN"/>
          </a:p>
          <a:p>
            <a:r>
              <a:rPr lang="en-US" altLang="zh-CN"/>
              <a:t>6. Esp</a:t>
            </a:r>
            <a:r>
              <a:rPr lang="en-US" altLang="en-US"/>
              <a:t>í</a:t>
            </a:r>
            <a:r>
              <a:rPr lang="en-US" altLang="zh-CN"/>
              <a:t>rito Santo, L.R., et al. (2022). Socioeconomic status and dyslipidemia in adults. International Health, 14(4):346–353.</a:t>
            </a:r>
            <a:endParaRPr lang="en-US" altLang="zh-CN"/>
          </a:p>
        </p:txBody>
      </p:sp>
      <p:sp>
        <p:nvSpPr>
          <p:cNvPr id="13" name="Text Placeholder 12"/>
          <p:cNvSpPr>
            <a:spLocks noGrp="1"/>
          </p:cNvSpPr>
          <p:nvPr>
            <p:ph type="body" sz="quarter" idx="29"/>
          </p:nvPr>
        </p:nvSpPr>
        <p:spPr>
          <a:xfrm>
            <a:off x="33581427" y="28520859"/>
            <a:ext cx="10047018" cy="750570"/>
          </a:xfrm>
        </p:spPr>
        <p:txBody>
          <a:bodyPr/>
          <a:lstStyle/>
          <a:p>
            <a:r>
              <a:rPr lang="en-US" altLang="zh-CN"/>
              <a:t>Acknowledgements</a:t>
            </a:r>
            <a:endParaRPr lang="en-US" altLang="zh-CN"/>
          </a:p>
        </p:txBody>
      </p:sp>
      <p:sp>
        <p:nvSpPr>
          <p:cNvPr id="14" name="Text Placeholder 13"/>
          <p:cNvSpPr>
            <a:spLocks noGrp="1"/>
          </p:cNvSpPr>
          <p:nvPr>
            <p:ph type="body" sz="quarter" idx="30"/>
          </p:nvPr>
        </p:nvSpPr>
        <p:spPr>
          <a:xfrm>
            <a:off x="33411247" y="29365876"/>
            <a:ext cx="10052050" cy="1686560"/>
          </a:xfrm>
        </p:spPr>
        <p:txBody>
          <a:bodyPr/>
          <a:lstStyle/>
          <a:p>
            <a:r>
              <a:rPr lang="en-US" altLang="zh-CN"/>
              <a:t>Data source: National Health and Nutrition Examination Survey, National Center for Health Statistics.</a:t>
            </a:r>
            <a:endParaRPr lang="en-US" altLang="zh-CN"/>
          </a:p>
          <a:p>
            <a:r>
              <a:rPr lang="en-US" altLang="zh-CN"/>
              <a:t>Analyst: Zhan Zhao.</a:t>
            </a:r>
            <a:endParaRPr lang="en-US" altLang="zh-CN"/>
          </a:p>
        </p:txBody>
      </p:sp>
      <p:sp>
        <p:nvSpPr>
          <p:cNvPr id="15" name="Text Placeholder 14"/>
          <p:cNvSpPr>
            <a:spLocks noGrp="1"/>
          </p:cNvSpPr>
          <p:nvPr>
            <p:ph type="body" sz="quarter" idx="96"/>
          </p:nvPr>
        </p:nvSpPr>
        <p:spPr>
          <a:xfrm>
            <a:off x="239329" y="14879797"/>
            <a:ext cx="10056813" cy="6007735"/>
          </a:xfrm>
        </p:spPr>
        <p:txBody>
          <a:bodyPr/>
          <a:lstStyle/>
          <a:p>
            <a:pPr marL="571500" indent="-571500">
              <a:buFont typeface="Arial" panose="020B0604020202090204" pitchFamily="34" charset="0"/>
              <a:buChar char="•"/>
            </a:pPr>
            <a:r>
              <a:rPr lang="en-US" altLang="zh-CN" sz="4400"/>
              <a:t>RQ1: Estimate the prevalence of abnormal cholesterol among U.S. young adults aged 18–26 by sex and weight status.</a:t>
            </a:r>
            <a:endParaRPr lang="en-US" altLang="zh-CN" sz="4400"/>
          </a:p>
          <a:p>
            <a:pPr marL="571500" indent="-571500">
              <a:buFont typeface="Arial" panose="020B0604020202090204" pitchFamily="34" charset="0"/>
              <a:buChar char="•"/>
            </a:pPr>
            <a:r>
              <a:rPr lang="en-US" altLang="zh-CN" sz="4400"/>
              <a:t>RQ2: Examine whether smoking status, binge drinking, physical activity, and sedentary behavior are associated with abnormal cholesterol after adjustment.</a:t>
            </a:r>
            <a:endParaRPr lang="en-US" altLang="zh-CN" sz="4400"/>
          </a:p>
        </p:txBody>
      </p:sp>
      <p:sp>
        <p:nvSpPr>
          <p:cNvPr id="16" name="Text Placeholder 15"/>
          <p:cNvSpPr>
            <a:spLocks noGrp="1"/>
          </p:cNvSpPr>
          <p:nvPr>
            <p:ph type="body" sz="quarter" idx="150"/>
          </p:nvPr>
        </p:nvSpPr>
        <p:spPr/>
        <p:txBody>
          <a:bodyPr/>
          <a:lstStyle/>
          <a:p>
            <a:r>
              <a:rPr lang="en-US" altLang="zh-CN"/>
              <a:t>Master of Public Health, Epidemiology and Biostatistics</a:t>
            </a:r>
            <a:endParaRPr lang="en-US" altLang="zh-CN"/>
          </a:p>
        </p:txBody>
      </p:sp>
      <p:sp>
        <p:nvSpPr>
          <p:cNvPr id="17" name="Text Placeholder 16"/>
          <p:cNvSpPr>
            <a:spLocks noGrp="1"/>
          </p:cNvSpPr>
          <p:nvPr>
            <p:ph type="body" sz="quarter" idx="151"/>
          </p:nvPr>
        </p:nvSpPr>
        <p:spPr/>
        <p:txBody>
          <a:bodyPr>
            <a:normAutofit lnSpcReduction="10000"/>
          </a:bodyPr>
          <a:lstStyle/>
          <a:p>
            <a:r>
              <a:rPr lang="en-US"/>
              <a:t>Zhan Zhao</a:t>
            </a:r>
            <a:endParaRPr lang="en-US"/>
          </a:p>
        </p:txBody>
      </p:sp>
      <p:sp>
        <p:nvSpPr>
          <p:cNvPr id="18" name="Text Placeholder 17"/>
          <p:cNvSpPr>
            <a:spLocks noGrp="1"/>
          </p:cNvSpPr>
          <p:nvPr>
            <p:ph type="body" sz="quarter" idx="153"/>
          </p:nvPr>
        </p:nvSpPr>
        <p:spPr/>
        <p:txBody>
          <a:bodyPr>
            <a:normAutofit fontScale="50000"/>
          </a:bodyPr>
          <a:lstStyle/>
          <a:p>
            <a:r>
              <a:rPr lang="en-US" altLang="zh-CN"/>
              <a:t>Abnormal Cholesterol in U.S. Young Adults: Behavioral Factors and Healthcare Access in Cardiovascular Risk Prevention, NHANES 2021–2023</a:t>
            </a:r>
            <a:endParaRPr lang="en-US" altLang="zh-CN"/>
          </a:p>
        </p:txBody>
      </p:sp>
      <p:sp>
        <p:nvSpPr>
          <p:cNvPr id="19" name="Text Placeholder 6"/>
          <p:cNvSpPr>
            <a:spLocks noGrp="1"/>
          </p:cNvSpPr>
          <p:nvPr/>
        </p:nvSpPr>
        <p:spPr>
          <a:xfrm>
            <a:off x="21868453" y="7739286"/>
            <a:ext cx="10048874" cy="6820535"/>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pPr marL="571500" indent="-571500">
              <a:buFont typeface="Arial" panose="020B0604020202090204" pitchFamily="34" charset="0"/>
              <a:buChar char="•"/>
            </a:pPr>
            <a:r>
              <a:rPr lang="en-US" altLang="zh-CN" sz="4400"/>
              <a:t>After adjustment, none of the selected behavioral factors reached statistical significance at p &lt; .05. </a:t>
            </a:r>
            <a:endParaRPr lang="en-US" altLang="zh-CN" sz="4400"/>
          </a:p>
          <a:p>
            <a:pPr marL="571500" indent="-571500">
              <a:buFont typeface="Arial" panose="020B0604020202090204" pitchFamily="34" charset="0"/>
              <a:buChar char="•"/>
            </a:pPr>
            <a:r>
              <a:rPr lang="en-US" altLang="zh-CN" sz="4400"/>
              <a:t>Current smoking showed higher odds of abnormal cholesterol, but the confidence interval was wide. </a:t>
            </a:r>
            <a:endParaRPr lang="en-US" altLang="zh-CN" sz="4400"/>
          </a:p>
          <a:p>
            <a:pPr marL="571500" indent="-571500">
              <a:buFont typeface="Arial" panose="020B0604020202090204" pitchFamily="34" charset="0"/>
              <a:buChar char="•"/>
            </a:pPr>
            <a:r>
              <a:rPr lang="en-US" altLang="zh-CN" sz="4400"/>
              <a:t>Low physical activity showed a borderline association with higher odds of abnormal cholesterol.</a:t>
            </a:r>
            <a:endParaRPr lang="en-US" altLang="zh-CN" sz="4400"/>
          </a:p>
        </p:txBody>
      </p:sp>
      <p:sp>
        <p:nvSpPr>
          <p:cNvPr id="20" name="Text Placeholder 7"/>
          <p:cNvSpPr>
            <a:spLocks noGrp="1"/>
          </p:cNvSpPr>
          <p:nvPr/>
        </p:nvSpPr>
        <p:spPr>
          <a:xfrm>
            <a:off x="11237595" y="5003800"/>
            <a:ext cx="10727690" cy="1685925"/>
          </a:xfrm>
          <a:prstGeom prst="rect">
            <a:avLst/>
          </a:prstGeom>
          <a:noFill/>
        </p:spPr>
        <p:txBody>
          <a:bodyPr lIns="91436" tIns="91436" rIns="91436" bIns="91436" anchor="ctr" anchorCtr="0">
            <a:no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ltLang="zh-CN" sz="7200"/>
              <a:t>R</a:t>
            </a:r>
            <a:r>
              <a:rPr lang="en-US" altLang="zh-CN" sz="7200"/>
              <a:t>esults1: Prevalence</a:t>
            </a:r>
            <a:endParaRPr lang="en-US" altLang="zh-CN" sz="7200"/>
          </a:p>
        </p:txBody>
      </p:sp>
      <p:sp>
        <p:nvSpPr>
          <p:cNvPr id="21" name="Text Placeholder 7"/>
          <p:cNvSpPr>
            <a:spLocks noGrp="1"/>
          </p:cNvSpPr>
          <p:nvPr/>
        </p:nvSpPr>
        <p:spPr>
          <a:xfrm>
            <a:off x="22157059" y="23869602"/>
            <a:ext cx="10058400" cy="1289050"/>
          </a:xfrm>
          <a:prstGeom prst="rect">
            <a:avLst/>
          </a:prstGeom>
          <a:noFill/>
        </p:spPr>
        <p:txBody>
          <a:bodyPr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ltLang="zh-CN" sz="7200"/>
              <a:t>Findings</a:t>
            </a:r>
            <a:endParaRPr lang="en-US" altLang="zh-CN" sz="7200"/>
          </a:p>
        </p:txBody>
      </p:sp>
      <p:sp>
        <p:nvSpPr>
          <p:cNvPr id="22" name="Text Placeholder 6"/>
          <p:cNvSpPr>
            <a:spLocks noGrp="1"/>
          </p:cNvSpPr>
          <p:nvPr/>
        </p:nvSpPr>
        <p:spPr>
          <a:xfrm>
            <a:off x="21947193" y="25158606"/>
            <a:ext cx="10048874" cy="5749290"/>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pPr marL="571500" indent="-571500">
              <a:buFont typeface="Arial" panose="020B0604020202090204" pitchFamily="34" charset="0"/>
              <a:buChar char="•"/>
            </a:pPr>
            <a:r>
              <a:rPr lang="en-US" altLang="zh-CN" sz="4000"/>
              <a:t>Current smoker vs. never smoker: OR = 1.69, 95% CI [0.32, 9.02], p = .435</a:t>
            </a:r>
            <a:endParaRPr lang="en-US" altLang="zh-CN" sz="4000"/>
          </a:p>
          <a:p>
            <a:pPr marL="571500" indent="-571500">
              <a:buFont typeface="Arial" panose="020B0604020202090204" pitchFamily="34" charset="0"/>
              <a:buChar char="•"/>
            </a:pPr>
            <a:r>
              <a:rPr lang="en-US" altLang="zh-CN" sz="4000"/>
              <a:t>Binge drinking: OR = 0.47, 95% CI [0.18, 1.24], p = .097</a:t>
            </a:r>
            <a:endParaRPr lang="en-US" altLang="zh-CN" sz="4000"/>
          </a:p>
          <a:p>
            <a:pPr marL="571500" indent="-571500">
              <a:buFont typeface="Arial" panose="020B0604020202090204" pitchFamily="34" charset="0"/>
              <a:buChar char="•"/>
            </a:pPr>
            <a:r>
              <a:rPr lang="en-US" altLang="zh-CN" sz="4000"/>
              <a:t>Below 150 min/week physical activity: OR = 1.78, 95% CI [0.97, 3.27], p = .060</a:t>
            </a:r>
            <a:endParaRPr lang="en-US" altLang="zh-CN" sz="4000"/>
          </a:p>
          <a:p>
            <a:pPr marL="571500" indent="-571500">
              <a:buFont typeface="Arial" panose="020B0604020202090204" pitchFamily="34" charset="0"/>
              <a:buChar char="•"/>
            </a:pPr>
            <a:r>
              <a:rPr lang="en-US" altLang="zh-CN" sz="4000"/>
              <a:t>High sedentary time: OR = 1.08, 95% CI [0.58, 2.01], p = .769</a:t>
            </a:r>
            <a:endParaRPr lang="en-US" altLang="zh-CN" sz="4000"/>
          </a:p>
        </p:txBody>
      </p:sp>
      <p:sp>
        <p:nvSpPr>
          <p:cNvPr id="24" name="Text Placeholder 7"/>
          <p:cNvSpPr>
            <a:spLocks noGrp="1"/>
          </p:cNvSpPr>
          <p:nvPr/>
        </p:nvSpPr>
        <p:spPr>
          <a:xfrm>
            <a:off x="33404814" y="4847542"/>
            <a:ext cx="10058400" cy="1289050"/>
          </a:xfrm>
          <a:prstGeom prst="rect">
            <a:avLst/>
          </a:prstGeom>
          <a:noFill/>
        </p:spPr>
        <p:txBody>
          <a:bodyPr lIns="91436" tIns="91436" rIns="91436" bIns="91436" anchor="ctr" anchorCtr="0">
            <a:spAutoFit/>
          </a:bodyPr>
          <a:lstStyle>
            <a:lvl1pPr marL="0" indent="0" algn="l" defTabSz="4389120" rtl="0" eaLnBrk="1" latinLnBrk="0" hangingPunct="1">
              <a:spcBef>
                <a:spcPct val="20000"/>
              </a:spcBef>
              <a:buClr>
                <a:schemeClr val="accent1"/>
              </a:buClr>
              <a:buSzPct val="100000"/>
              <a:buFont typeface="Wingdings" panose="05000000000000000000" pitchFamily="2" charset="2"/>
              <a:buNone/>
              <a:defRPr sz="3700" b="1" u="sng" kern="1200" baseline="0">
                <a:solidFill>
                  <a:schemeClr val="accent1"/>
                </a:solidFill>
                <a:latin typeface="+mn-lt"/>
                <a:ea typeface="+mn-ea"/>
                <a:cs typeface="+mn-cs"/>
              </a:defRPr>
            </a:lvl1pPr>
            <a:lvl2pPr marL="3566160" indent="-1371600" algn="l" defTabSz="4389120" rtl="0" eaLnBrk="1" latinLnBrk="0" hangingPunct="1">
              <a:spcBef>
                <a:spcPct val="20000"/>
              </a:spcBef>
              <a:buFont typeface="Arial" panose="020B060402020209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9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ltLang="zh-CN" sz="7200"/>
              <a:t>Discussion</a:t>
            </a:r>
            <a:endParaRPr lang="en-US" altLang="zh-CN" sz="7200"/>
          </a:p>
        </p:txBody>
      </p:sp>
      <p:sp>
        <p:nvSpPr>
          <p:cNvPr id="25" name="Text Placeholder 6"/>
          <p:cNvSpPr>
            <a:spLocks noGrp="1"/>
          </p:cNvSpPr>
          <p:nvPr/>
        </p:nvSpPr>
        <p:spPr>
          <a:xfrm>
            <a:off x="33548643" y="6365146"/>
            <a:ext cx="10048874" cy="6550025"/>
          </a:xfrm>
          <a:prstGeom prst="rect">
            <a:avLst/>
          </a:prstGeom>
        </p:spPr>
        <p:txBody>
          <a:bodyPr wrap="square" lIns="228589" tIns="228589" rIns="228589" bIns="228589">
            <a:spAutoFit/>
          </a:bodyPr>
          <a:lstStyle>
            <a:lvl1pPr marL="0" indent="0" algn="l" defTabSz="4389120" rtl="0" eaLnBrk="1" latinLnBrk="0" hangingPunct="1">
              <a:spcBef>
                <a:spcPct val="20000"/>
              </a:spcBef>
              <a:buFont typeface="Arial" panose="020B0604020202090204" pitchFamily="34" charset="0"/>
              <a:buNone/>
              <a:defRPr sz="25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9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90204" pitchFamily="34" charset="0"/>
              <a:buChar char="•"/>
              <a:defRPr sz="9600" kern="1200">
                <a:solidFill>
                  <a:schemeClr val="tx1"/>
                </a:solidFill>
                <a:latin typeface="+mn-lt"/>
                <a:ea typeface="+mn-ea"/>
                <a:cs typeface="+mn-cs"/>
              </a:defRPr>
            </a:lvl9pPr>
          </a:lstStyle>
          <a:p>
            <a:r>
              <a:rPr lang="en-US" altLang="zh-CN" sz="4400"/>
              <a:t>The findings suggest that sex and body weight status may be stronger correlates of abnormal cholesterol than the selected behavioral factors in this young adult sample. Physical activity may still be important because the association was borderline and directionally consistent with cardiovascular prevention expectations.</a:t>
            </a:r>
            <a:endParaRPr lang="en-US" altLang="zh-CN" sz="4400"/>
          </a:p>
        </p:txBody>
      </p:sp>
      <p:pic>
        <p:nvPicPr>
          <p:cNvPr id="26" name="图片 25" descr="figure1_abnormal_cholesterol_measures"/>
          <p:cNvPicPr>
            <a:picLocks noChangeAspect="1"/>
          </p:cNvPicPr>
          <p:nvPr/>
        </p:nvPicPr>
        <p:blipFill>
          <a:blip r:embed="rId1"/>
          <a:stretch>
            <a:fillRect/>
          </a:stretch>
        </p:blipFill>
        <p:spPr>
          <a:xfrm>
            <a:off x="10797540" y="11961495"/>
            <a:ext cx="10158730" cy="8629015"/>
          </a:xfrm>
          <a:prstGeom prst="rect">
            <a:avLst/>
          </a:prstGeom>
        </p:spPr>
      </p:pic>
      <p:pic>
        <p:nvPicPr>
          <p:cNvPr id="27" name="图片 26" descr="figure2_abnormal_cholesterol_by_sex_bmi"/>
          <p:cNvPicPr>
            <a:picLocks noChangeAspect="1"/>
          </p:cNvPicPr>
          <p:nvPr/>
        </p:nvPicPr>
        <p:blipFill>
          <a:blip r:embed="rId2"/>
          <a:stretch>
            <a:fillRect/>
          </a:stretch>
        </p:blipFill>
        <p:spPr>
          <a:xfrm>
            <a:off x="11311890" y="21426170"/>
            <a:ext cx="10008235" cy="8974455"/>
          </a:xfrm>
          <a:prstGeom prst="rect">
            <a:avLst/>
          </a:prstGeom>
        </p:spPr>
      </p:pic>
      <p:graphicFrame>
        <p:nvGraphicFramePr>
          <p:cNvPr id="28" name="表格 27"/>
          <p:cNvGraphicFramePr/>
          <p:nvPr>
            <p:custDataLst>
              <p:tags r:id="rId3"/>
            </p:custDataLst>
          </p:nvPr>
        </p:nvGraphicFramePr>
        <p:xfrm>
          <a:off x="21975445" y="14900275"/>
          <a:ext cx="10331450" cy="8629015"/>
        </p:xfrm>
        <a:graphic>
          <a:graphicData uri="http://schemas.openxmlformats.org/drawingml/2006/table">
            <a:tbl>
              <a:tblPr firstRow="1" bandRow="1">
                <a:tableStyleId>{5C22544A-7EE6-4342-B048-85BDC9FD1C3A}</a:tableStyleId>
              </a:tblPr>
              <a:tblGrid>
                <a:gridCol w="2066290"/>
                <a:gridCol w="2066290"/>
                <a:gridCol w="2066290"/>
                <a:gridCol w="2066290"/>
                <a:gridCol w="2066290"/>
              </a:tblGrid>
              <a:tr h="1407795">
                <a:tc>
                  <a:txBody>
                    <a:bodyPr/>
                    <a:p>
                      <a:pPr algn="l" fontAlgn="ctr"/>
                      <a:r>
                        <a:rPr lang="en-US" altLang="zh-CN" sz="2000" b="0" i="0">
                          <a:solidFill>
                            <a:schemeClr val="bg1"/>
                          </a:solidFill>
                          <a:latin typeface="宋体"/>
                          <a:ea typeface="宋体"/>
                        </a:rPr>
                        <a:t>Model</a:t>
                      </a:r>
                      <a:endParaRPr lang="en-US" altLang="zh-CN" sz="2000" b="0" i="0">
                        <a:solidFill>
                          <a:schemeClr val="bg1"/>
                        </a:solidFill>
                        <a:latin typeface="宋体"/>
                        <a:ea typeface="宋体"/>
                      </a:endParaRPr>
                    </a:p>
                  </a:txBody>
                  <a:tcPr marL="13017" marR="13017" marT="13017" marB="0" anchor="ctr" anchorCtr="0"/>
                </a:tc>
                <a:tc>
                  <a:txBody>
                    <a:bodyPr/>
                    <a:p>
                      <a:pPr algn="l" fontAlgn="ctr"/>
                      <a:r>
                        <a:rPr lang="en-US" altLang="zh-CN" sz="2000" b="0" i="0">
                          <a:solidFill>
                            <a:schemeClr val="bg1"/>
                          </a:solidFill>
                          <a:latin typeface="宋体"/>
                          <a:ea typeface="宋体"/>
                        </a:rPr>
                        <a:t>Behavioral Factor</a:t>
                      </a:r>
                      <a:endParaRPr lang="en-US" altLang="zh-CN" sz="2000" b="0" i="0">
                        <a:solidFill>
                          <a:schemeClr val="bg1"/>
                        </a:solidFill>
                        <a:latin typeface="宋体"/>
                        <a:ea typeface="宋体"/>
                      </a:endParaRPr>
                    </a:p>
                  </a:txBody>
                  <a:tcPr marL="13017" marR="13017" marT="13017" marB="0" anchor="ctr" anchorCtr="0"/>
                </a:tc>
                <a:tc>
                  <a:txBody>
                    <a:bodyPr/>
                    <a:p>
                      <a:pPr algn="ctr" fontAlgn="ctr"/>
                      <a:r>
                        <a:rPr lang="en-US" altLang="zh-CN" sz="2000" b="0" i="0">
                          <a:solidFill>
                            <a:schemeClr val="bg1"/>
                          </a:solidFill>
                          <a:latin typeface="宋体"/>
                          <a:ea typeface="宋体"/>
                        </a:rPr>
                        <a:t>Adjusted OR</a:t>
                      </a:r>
                      <a:endParaRPr lang="en-US" altLang="zh-CN" sz="2000" b="0" i="0">
                        <a:solidFill>
                          <a:schemeClr val="bg1"/>
                        </a:solidFill>
                        <a:latin typeface="宋体"/>
                        <a:ea typeface="宋体"/>
                      </a:endParaRPr>
                    </a:p>
                  </a:txBody>
                  <a:tcPr marL="13017" marR="13017" marT="13017" marB="0" anchor="ctr" anchorCtr="0"/>
                </a:tc>
                <a:tc>
                  <a:txBody>
                    <a:bodyPr/>
                    <a:p>
                      <a:pPr algn="ctr" fontAlgn="ctr"/>
                      <a:r>
                        <a:rPr lang="en-US" altLang="zh-CN" sz="2000" b="0" i="0">
                          <a:solidFill>
                            <a:schemeClr val="bg1"/>
                          </a:solidFill>
                          <a:latin typeface="宋体"/>
                          <a:ea typeface="宋体"/>
                        </a:rPr>
                        <a:t>95% CI</a:t>
                      </a:r>
                      <a:endParaRPr lang="en-US" altLang="zh-CN" sz="2000" b="0" i="0">
                        <a:solidFill>
                          <a:schemeClr val="bg1"/>
                        </a:solidFill>
                        <a:latin typeface="宋体"/>
                        <a:ea typeface="宋体"/>
                      </a:endParaRPr>
                    </a:p>
                  </a:txBody>
                  <a:tcPr marL="13017" marR="13017" marT="13017" marB="0" anchor="ctr" anchorCtr="0"/>
                </a:tc>
                <a:tc>
                  <a:txBody>
                    <a:bodyPr/>
                    <a:p>
                      <a:pPr algn="ctr" fontAlgn="ctr"/>
                      <a:r>
                        <a:rPr lang="en-US" altLang="zh-CN" sz="2000" b="0" i="0">
                          <a:solidFill>
                            <a:schemeClr val="bg1"/>
                          </a:solidFill>
                          <a:latin typeface="宋体"/>
                          <a:ea typeface="宋体"/>
                        </a:rPr>
                        <a:t>p-value</a:t>
                      </a:r>
                      <a:endParaRPr lang="en-US" altLang="zh-CN" sz="2000" b="0" i="0">
                        <a:solidFill>
                          <a:schemeClr val="bg1"/>
                        </a:solidFill>
                        <a:latin typeface="宋体"/>
                        <a:ea typeface="宋体"/>
                      </a:endParaRPr>
                    </a:p>
                  </a:txBody>
                  <a:tcPr marL="13017" marR="13017" marT="13017" marB="0" anchor="ctr" anchorCtr="0"/>
                </a:tc>
              </a:tr>
              <a:tr h="1408430">
                <a:tc>
                  <a:txBody>
                    <a:bodyPr/>
                    <a:p>
                      <a:pPr algn="l" fontAlgn="ctr"/>
                      <a:r>
                        <a:rPr lang="en-US" altLang="zh-CN" sz="2000" b="1" i="0">
                          <a:solidFill>
                            <a:srgbClr val="000000"/>
                          </a:solidFill>
                          <a:latin typeface="宋体"/>
                          <a:ea typeface="宋体"/>
                        </a:rPr>
                        <a:t>Smoking status</a:t>
                      </a:r>
                      <a:endParaRPr lang="en-US" altLang="zh-CN" sz="2000" b="1"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Former smoker vs. never smoker</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0.8</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0.25–2.62</a:t>
                      </a:r>
                      <a:endParaRPr lang="en-US" altLang="zh-CN" sz="2000" b="0" i="0">
                        <a:solidFill>
                          <a:srgbClr val="000000"/>
                        </a:solidFill>
                        <a:latin typeface="宋体"/>
                        <a:ea typeface="宋体"/>
                      </a:endParaRPr>
                    </a:p>
                  </a:txBody>
                  <a:tcPr marL="13017" marR="13017" marT="13017" marB="0" anchor="ctr" anchorCtr="0"/>
                </a:tc>
                <a:tc>
                  <a:txBody>
                    <a:bodyPr/>
                    <a:p>
                      <a:pPr algn="r" fontAlgn="ctr"/>
                      <a:r>
                        <a:rPr lang="en-US" altLang="zh-CN" sz="2000" b="0" i="0">
                          <a:solidFill>
                            <a:srgbClr val="000000"/>
                          </a:solidFill>
                          <a:latin typeface="宋体"/>
                          <a:ea typeface="宋体"/>
                        </a:rPr>
                        <a:t>0.635</a:t>
                      </a:r>
                      <a:endParaRPr lang="en-US" altLang="zh-CN" sz="2000" b="0" i="0">
                        <a:solidFill>
                          <a:srgbClr val="000000"/>
                        </a:solidFill>
                        <a:latin typeface="宋体"/>
                        <a:ea typeface="宋体"/>
                      </a:endParaRPr>
                    </a:p>
                  </a:txBody>
                  <a:tcPr marL="13017" marR="13017" marT="13017" marB="0" anchor="ctr" anchorCtr="0"/>
                </a:tc>
              </a:tr>
              <a:tr h="1407160">
                <a:tc>
                  <a:txBody>
                    <a:bodyPr/>
                    <a:p>
                      <a:pPr algn="l" fontAlgn="ctr"/>
                      <a:r>
                        <a:rPr lang="en-US" altLang="zh-CN" sz="2000" b="1" i="0">
                          <a:solidFill>
                            <a:srgbClr val="000000"/>
                          </a:solidFill>
                          <a:latin typeface="宋体"/>
                          <a:ea typeface="宋体"/>
                        </a:rPr>
                        <a:t>Smoking status</a:t>
                      </a:r>
                      <a:endParaRPr lang="en-US" altLang="zh-CN" sz="2000" b="1"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Current smoker vs. never smoker</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1.69</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0.32–9.02</a:t>
                      </a:r>
                      <a:endParaRPr lang="en-US" altLang="zh-CN" sz="2000" b="0" i="0">
                        <a:solidFill>
                          <a:srgbClr val="000000"/>
                        </a:solidFill>
                        <a:latin typeface="宋体"/>
                        <a:ea typeface="宋体"/>
                      </a:endParaRPr>
                    </a:p>
                  </a:txBody>
                  <a:tcPr marL="13017" marR="13017" marT="13017" marB="0" anchor="ctr" anchorCtr="0"/>
                </a:tc>
                <a:tc>
                  <a:txBody>
                    <a:bodyPr/>
                    <a:p>
                      <a:pPr algn="r" fontAlgn="ctr"/>
                      <a:r>
                        <a:rPr lang="en-US" altLang="zh-CN" sz="2000" b="0" i="0">
                          <a:solidFill>
                            <a:srgbClr val="000000"/>
                          </a:solidFill>
                          <a:latin typeface="宋体"/>
                          <a:ea typeface="宋体"/>
                        </a:rPr>
                        <a:t>0.435</a:t>
                      </a:r>
                      <a:endParaRPr lang="en-US" altLang="zh-CN" sz="2000" b="0" i="0">
                        <a:solidFill>
                          <a:srgbClr val="000000"/>
                        </a:solidFill>
                        <a:latin typeface="宋体"/>
                        <a:ea typeface="宋体"/>
                      </a:endParaRPr>
                    </a:p>
                  </a:txBody>
                  <a:tcPr marL="13017" marR="13017" marT="13017" marB="0" anchor="ctr" anchorCtr="0"/>
                </a:tc>
              </a:tr>
              <a:tr h="1407795">
                <a:tc>
                  <a:txBody>
                    <a:bodyPr/>
                    <a:p>
                      <a:pPr algn="l" fontAlgn="ctr"/>
                      <a:r>
                        <a:rPr lang="en-US" altLang="zh-CN" sz="2000" b="1" i="0">
                          <a:solidFill>
                            <a:srgbClr val="000000"/>
                          </a:solidFill>
                          <a:latin typeface="宋体"/>
                          <a:ea typeface="宋体"/>
                        </a:rPr>
                        <a:t>Binge drinking</a:t>
                      </a:r>
                      <a:endParaRPr lang="en-US" altLang="zh-CN" sz="2000" b="1"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Any binge drinking vs. none</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0.47</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0.18–1.24</a:t>
                      </a:r>
                      <a:endParaRPr lang="en-US" altLang="zh-CN" sz="2000" b="0" i="0">
                        <a:solidFill>
                          <a:srgbClr val="000000"/>
                        </a:solidFill>
                        <a:latin typeface="宋体"/>
                        <a:ea typeface="宋体"/>
                      </a:endParaRPr>
                    </a:p>
                  </a:txBody>
                  <a:tcPr marL="13017" marR="13017" marT="13017" marB="0" anchor="ctr" anchorCtr="0"/>
                </a:tc>
                <a:tc>
                  <a:txBody>
                    <a:bodyPr/>
                    <a:p>
                      <a:pPr algn="r" fontAlgn="ctr"/>
                      <a:r>
                        <a:rPr lang="en-US" altLang="zh-CN" sz="2000" b="0" i="0">
                          <a:solidFill>
                            <a:srgbClr val="000000"/>
                          </a:solidFill>
                          <a:latin typeface="宋体"/>
                          <a:ea typeface="宋体"/>
                        </a:rPr>
                        <a:t>0.097</a:t>
                      </a:r>
                      <a:endParaRPr lang="en-US" altLang="zh-CN" sz="2000" b="0" i="0">
                        <a:solidFill>
                          <a:srgbClr val="000000"/>
                        </a:solidFill>
                        <a:latin typeface="宋体"/>
                        <a:ea typeface="宋体"/>
                      </a:endParaRPr>
                    </a:p>
                  </a:txBody>
                  <a:tcPr marL="13017" marR="13017" marT="13017" marB="0" anchor="ctr" anchorCtr="0"/>
                </a:tc>
              </a:tr>
              <a:tr h="1590040">
                <a:tc>
                  <a:txBody>
                    <a:bodyPr/>
                    <a:p>
                      <a:pPr algn="l" fontAlgn="ctr"/>
                      <a:r>
                        <a:rPr lang="en-US" altLang="zh-CN" sz="2000" b="1" i="0">
                          <a:solidFill>
                            <a:srgbClr val="000000"/>
                          </a:solidFill>
                          <a:latin typeface="宋体"/>
                          <a:ea typeface="宋体"/>
                        </a:rPr>
                        <a:t>Physical activity</a:t>
                      </a:r>
                      <a:endParaRPr lang="en-US" altLang="zh-CN" sz="2000" b="1"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Below 150 min/week physical activity vs. meets guideline</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1.78</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0.97–3.27</a:t>
                      </a:r>
                      <a:endParaRPr lang="en-US" altLang="zh-CN" sz="2000" b="0" i="0">
                        <a:solidFill>
                          <a:srgbClr val="000000"/>
                        </a:solidFill>
                        <a:latin typeface="宋体"/>
                        <a:ea typeface="宋体"/>
                      </a:endParaRPr>
                    </a:p>
                  </a:txBody>
                  <a:tcPr marL="13017" marR="13017" marT="13017" marB="0" anchor="ctr" anchorCtr="0"/>
                </a:tc>
                <a:tc>
                  <a:txBody>
                    <a:bodyPr/>
                    <a:p>
                      <a:pPr algn="r" fontAlgn="ctr"/>
                      <a:r>
                        <a:rPr lang="en-US" altLang="zh-CN" sz="2000" b="0" i="0">
                          <a:solidFill>
                            <a:srgbClr val="000000"/>
                          </a:solidFill>
                          <a:latin typeface="宋体"/>
                          <a:ea typeface="宋体"/>
                        </a:rPr>
                        <a:t>0.06</a:t>
                      </a:r>
                      <a:endParaRPr lang="en-US" altLang="zh-CN" sz="2000" b="0" i="0">
                        <a:solidFill>
                          <a:srgbClr val="000000"/>
                        </a:solidFill>
                        <a:latin typeface="宋体"/>
                        <a:ea typeface="宋体"/>
                      </a:endParaRPr>
                    </a:p>
                  </a:txBody>
                  <a:tcPr marL="13017" marR="13017" marT="13017" marB="0" anchor="ctr" anchorCtr="0"/>
                </a:tc>
              </a:tr>
              <a:tr h="1407795">
                <a:tc>
                  <a:txBody>
                    <a:bodyPr/>
                    <a:p>
                      <a:pPr algn="l" fontAlgn="ctr"/>
                      <a:r>
                        <a:rPr lang="en-US" altLang="zh-CN" sz="2000" b="1" i="0">
                          <a:solidFill>
                            <a:srgbClr val="000000"/>
                          </a:solidFill>
                          <a:latin typeface="宋体"/>
                          <a:ea typeface="宋体"/>
                        </a:rPr>
                        <a:t>Sedentary behavior</a:t>
                      </a:r>
                      <a:endParaRPr lang="en-US" altLang="zh-CN" sz="2000" b="1"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High sedentary time vs. lower sedentary time</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1.08</a:t>
                      </a:r>
                      <a:endParaRPr lang="en-US" altLang="zh-CN" sz="2000" b="0" i="0">
                        <a:solidFill>
                          <a:srgbClr val="000000"/>
                        </a:solidFill>
                        <a:latin typeface="宋体"/>
                        <a:ea typeface="宋体"/>
                      </a:endParaRPr>
                    </a:p>
                  </a:txBody>
                  <a:tcPr marL="13017" marR="13017" marT="13017" marB="0" anchor="ctr" anchorCtr="0"/>
                </a:tc>
                <a:tc>
                  <a:txBody>
                    <a:bodyPr/>
                    <a:p>
                      <a:pPr algn="ctr" fontAlgn="ctr"/>
                      <a:r>
                        <a:rPr lang="en-US" altLang="zh-CN" sz="2000" b="0" i="0">
                          <a:solidFill>
                            <a:srgbClr val="000000"/>
                          </a:solidFill>
                          <a:latin typeface="宋体"/>
                          <a:ea typeface="宋体"/>
                        </a:rPr>
                        <a:t>0.58–2.01</a:t>
                      </a:r>
                      <a:endParaRPr lang="en-US" altLang="zh-CN" sz="2000" b="0" i="0">
                        <a:solidFill>
                          <a:srgbClr val="000000"/>
                        </a:solidFill>
                        <a:latin typeface="宋体"/>
                        <a:ea typeface="宋体"/>
                      </a:endParaRPr>
                    </a:p>
                  </a:txBody>
                  <a:tcPr marL="13017" marR="13017" marT="13017" marB="0" anchor="ctr" anchorCtr="0"/>
                </a:tc>
                <a:tc>
                  <a:txBody>
                    <a:bodyPr/>
                    <a:p>
                      <a:pPr algn="r" fontAlgn="ctr"/>
                      <a:r>
                        <a:rPr lang="en-US" altLang="zh-CN" sz="2000" b="0" i="0">
                          <a:solidFill>
                            <a:srgbClr val="000000"/>
                          </a:solidFill>
                          <a:latin typeface="宋体"/>
                          <a:ea typeface="宋体"/>
                        </a:rPr>
                        <a:t>0.769</a:t>
                      </a:r>
                      <a:endParaRPr lang="en-US" altLang="zh-CN" sz="2000" b="0" i="0">
                        <a:solidFill>
                          <a:srgbClr val="000000"/>
                        </a:solidFill>
                        <a:latin typeface="宋体"/>
                        <a:ea typeface="宋体"/>
                      </a:endParaRPr>
                    </a:p>
                  </a:txBody>
                  <a:tcPr marL="13017" marR="13017" marT="13017" marB="0" anchor="ctr" anchorCtr="0"/>
                </a:tc>
              </a:tr>
            </a:tbl>
          </a:graphicData>
        </a:graphic>
      </p:graphicFrame>
    </p:spTree>
  </p:cSld>
  <p:clrMapOvr>
    <a:masterClrMapping/>
  </p:clrMapOvr>
</p:sld>
</file>

<file path=ppt/tags/tag1.xml><?xml version="1.0" encoding="utf-8"?>
<p:tagLst xmlns:p="http://schemas.openxmlformats.org/presentationml/2006/main">
  <p:tag name="TABLE_ENDDRAG_ORIGIN_RECT" val="813*679"/>
  <p:tag name="TABLE_ENDDRAG_RECT" val="1729*1119*813*679"/>
</p:tagLst>
</file>

<file path=ppt/theme/theme1.xml><?xml version="1.0" encoding="utf-8"?>
<a:theme xmlns:a="http://schemas.openxmlformats.org/drawingml/2006/main" name="36x48-Templat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thout guides">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36x48-Template-V2b</Template>
  <TotalTime>0</TotalTime>
  <Words>3906</Words>
  <Application>WPS 表格</Application>
  <PresentationFormat>Custom</PresentationFormat>
  <Paragraphs>119</Paragraphs>
  <Slides>1</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vt:i4>
      </vt:variant>
    </vt:vector>
  </HeadingPairs>
  <TitlesOfParts>
    <vt:vector size="18" baseType="lpstr">
      <vt:lpstr>Arial</vt:lpstr>
      <vt:lpstr>宋体</vt:lpstr>
      <vt:lpstr>Wingdings</vt:lpstr>
      <vt:lpstr>Times New Roman</vt:lpstr>
      <vt:lpstr>Arial Black</vt:lpstr>
      <vt:lpstr>Trebuchet MS</vt:lpstr>
      <vt:lpstr>Arial</vt:lpstr>
      <vt:lpstr>Calibri</vt:lpstr>
      <vt:lpstr>Helvetica Neue</vt:lpstr>
      <vt:lpstr>微软雅黑</vt:lpstr>
      <vt:lpstr>汉仪旗黑</vt:lpstr>
      <vt:lpstr>宋体</vt:lpstr>
      <vt:lpstr>Arial Unicode MS</vt:lpstr>
      <vt:lpstr>汉仪书宋二KW</vt:lpstr>
      <vt:lpstr>宋体</vt:lpstr>
      <vt:lpstr>36x48-Template</vt:lpstr>
      <vt:lpstr>Without guides</vt:lpstr>
      <vt:lpstr>PowerPoint 演示文稿</vt:lpstr>
    </vt:vector>
  </TitlesOfParts>
  <Company>Canterbury Media Services, Inc.</Company>
  <LinksUpToDate>false</LinksUpToDate>
  <SharedDoc>false</SharedDoc>
  <HyperlinksChanged>false</HyperlinksChanged>
  <AppVersion>14.0000</AppVersion>
  <Manager>A. Kotoulas</Manager>
  <HyperlinkBase>https://www.posterpresentations.com/free-poster-templates.html</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dc:subject>Research poster presentation template</dc:subject>
  <cp:category>Research poster templates</cp:category>
  <cp:lastModifiedBy>zhaozhan</cp:lastModifiedBy>
  <cp:revision>66</cp:revision>
  <dcterms:created xsi:type="dcterms:W3CDTF">2026-05-06T23:03:10Z</dcterms:created>
  <dcterms:modified xsi:type="dcterms:W3CDTF">2026-05-06T23:03:10Z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DD66754C70C416A8CBA4FB691A46BA43_43</vt:lpwstr>
  </property>
  <property fmtid="{D5CDD505-2E9C-101B-9397-08002B2CF9AE}" pid="3" name="KSOProductBuildVer">
    <vt:lpwstr>2052-7.3.1.8967</vt:lpwstr>
  </property>
</Properties>
</file>